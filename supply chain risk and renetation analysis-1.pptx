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60"/>
  </p:normalViewPr>
  <p:slideViewPr>
    <p:cSldViewPr>
      <p:cViewPr varScale="1">
        <p:scale>
          <a:sx n="78" d="100"/>
          <a:sy n="78" d="100"/>
        </p:scale>
        <p:origin x="1253"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FCB8476-43D9-4E90-ABD2-EA99C863F26B}" type="datetimeFigureOut">
              <a:rPr lang="en-IN" smtClean="0"/>
              <a:t>18-07-2026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FDD4EAC-2B7D-493A-A23E-1362946462B2}" type="slidenum">
              <a:rPr lang="en-IN" smtClean="0"/>
              <a:t>‹#›</a:t>
            </a:fld>
            <a:endParaRPr lang="en-IN"/>
          </a:p>
        </p:txBody>
      </p:sp>
    </p:spTree>
    <p:extLst>
      <p:ext uri="{BB962C8B-B14F-4D97-AF65-F5344CB8AC3E}">
        <p14:creationId xmlns:p14="http://schemas.microsoft.com/office/powerpoint/2010/main" val="3079780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69197" y="253525"/>
            <a:ext cx="6442075" cy="668019"/>
          </a:xfrm>
          <a:prstGeom prst="rect">
            <a:avLst/>
          </a:prstGeom>
        </p:spPr>
        <p:txBody>
          <a:bodyPr wrap="square" lIns="0" tIns="0" rIns="0" bIns="0">
            <a:spAutoFit/>
          </a:bodyPr>
          <a:lstStyle>
            <a:lvl1pPr>
              <a:defRPr sz="3900" b="0" i="0">
                <a:solidFill>
                  <a:srgbClr val="404040"/>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0" i="0">
                <a:solidFill>
                  <a:srgbClr val="404040"/>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0" i="0">
                <a:solidFill>
                  <a:srgbClr val="404040"/>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0" i="0">
                <a:solidFill>
                  <a:srgbClr val="404040"/>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12192000" cy="457200"/>
          </a:xfrm>
          <a:custGeom>
            <a:avLst/>
            <a:gdLst/>
            <a:ahLst/>
            <a:cxnLst/>
            <a:rect l="l" t="t" r="r" b="b"/>
            <a:pathLst>
              <a:path w="12192000" h="457200">
                <a:moveTo>
                  <a:pt x="12192000" y="0"/>
                </a:moveTo>
                <a:lnTo>
                  <a:pt x="0" y="0"/>
                </a:lnTo>
                <a:lnTo>
                  <a:pt x="0" y="457198"/>
                </a:lnTo>
                <a:lnTo>
                  <a:pt x="12192000" y="457198"/>
                </a:lnTo>
                <a:lnTo>
                  <a:pt x="12192000" y="0"/>
                </a:lnTo>
                <a:close/>
              </a:path>
            </a:pathLst>
          </a:custGeom>
          <a:solidFill>
            <a:srgbClr val="BC572C"/>
          </a:solidFill>
        </p:spPr>
        <p:txBody>
          <a:bodyPr wrap="square" lIns="0" tIns="0" rIns="0" bIns="0" rtlCol="0"/>
          <a:lstStyle/>
          <a:p>
            <a:endParaRPr/>
          </a:p>
        </p:txBody>
      </p:sp>
      <p:sp>
        <p:nvSpPr>
          <p:cNvPr id="17" name="bg object 17"/>
          <p:cNvSpPr/>
          <p:nvPr/>
        </p:nvSpPr>
        <p:spPr>
          <a:xfrm>
            <a:off x="0" y="6334319"/>
            <a:ext cx="12192000" cy="66040"/>
          </a:xfrm>
          <a:custGeom>
            <a:avLst/>
            <a:gdLst/>
            <a:ahLst/>
            <a:cxnLst/>
            <a:rect l="l" t="t" r="r" b="b"/>
            <a:pathLst>
              <a:path w="12192000" h="66039">
                <a:moveTo>
                  <a:pt x="12192000" y="0"/>
                </a:moveTo>
                <a:lnTo>
                  <a:pt x="0" y="0"/>
                </a:lnTo>
                <a:lnTo>
                  <a:pt x="0" y="65999"/>
                </a:lnTo>
                <a:lnTo>
                  <a:pt x="12192000" y="65999"/>
                </a:lnTo>
                <a:lnTo>
                  <a:pt x="12192000" y="0"/>
                </a:lnTo>
                <a:close/>
              </a:path>
            </a:pathLst>
          </a:custGeom>
          <a:solidFill>
            <a:srgbClr val="E38312"/>
          </a:solidFill>
        </p:spPr>
        <p:txBody>
          <a:bodyPr wrap="square" lIns="0" tIns="0" rIns="0" bIns="0" rtlCol="0"/>
          <a:lstStyle/>
          <a:p>
            <a:endParaRPr/>
          </a:p>
        </p:txBody>
      </p:sp>
      <p:sp>
        <p:nvSpPr>
          <p:cNvPr id="18" name="bg object 18"/>
          <p:cNvSpPr/>
          <p:nvPr/>
        </p:nvSpPr>
        <p:spPr>
          <a:xfrm>
            <a:off x="1193532" y="1737866"/>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a:xfrm>
            <a:off x="1839847" y="423850"/>
            <a:ext cx="8512304" cy="1058388"/>
          </a:xfrm>
          <a:prstGeom prst="rect">
            <a:avLst/>
          </a:prstGeom>
        </p:spPr>
        <p:txBody>
          <a:bodyPr wrap="square" lIns="0" tIns="0" rIns="0" bIns="0">
            <a:spAutoFit/>
          </a:bodyPr>
          <a:lstStyle>
            <a:lvl1pPr>
              <a:defRPr sz="3900" b="0" i="0">
                <a:solidFill>
                  <a:srgbClr val="404040"/>
                </a:solidFill>
                <a:latin typeface="Calibri Light"/>
                <a:cs typeface="Calibri Light"/>
              </a:defRPr>
            </a:lvl1pPr>
          </a:lstStyle>
          <a:p>
            <a:endParaRPr/>
          </a:p>
        </p:txBody>
      </p:sp>
      <p:sp>
        <p:nvSpPr>
          <p:cNvPr id="3" name="Holder 3"/>
          <p:cNvSpPr>
            <a:spLocks noGrp="1"/>
          </p:cNvSpPr>
          <p:nvPr>
            <p:ph type="body" idx="1"/>
          </p:nvPr>
        </p:nvSpPr>
        <p:spPr>
          <a:xfrm>
            <a:off x="1297939" y="1913635"/>
            <a:ext cx="9849485" cy="2037079"/>
          </a:xfrm>
          <a:prstGeom prst="rect">
            <a:avLst/>
          </a:prstGeom>
        </p:spPr>
        <p:txBody>
          <a:bodyPr wrap="square" lIns="0" tIns="0" rIns="0" bIns="0">
            <a:spAutoFit/>
          </a:bodyPr>
          <a:lstStyle>
            <a:lvl1pPr>
              <a:defRPr sz="12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 y="6334314"/>
            <a:ext cx="12192000" cy="523875"/>
            <a:chOff x="13" y="6334314"/>
            <a:chExt cx="12192000" cy="523875"/>
          </a:xfrm>
        </p:grpSpPr>
        <p:sp>
          <p:nvSpPr>
            <p:cNvPr id="3" name="object 3"/>
            <p:cNvSpPr/>
            <p:nvPr/>
          </p:nvSpPr>
          <p:spPr>
            <a:xfrm>
              <a:off x="3175" y="6400799"/>
              <a:ext cx="12188825" cy="457200"/>
            </a:xfrm>
            <a:custGeom>
              <a:avLst/>
              <a:gdLst/>
              <a:ahLst/>
              <a:cxnLst/>
              <a:rect l="l" t="t" r="r" b="b"/>
              <a:pathLst>
                <a:path w="12188825" h="457200">
                  <a:moveTo>
                    <a:pt x="12188825" y="0"/>
                  </a:moveTo>
                  <a:lnTo>
                    <a:pt x="0" y="0"/>
                  </a:lnTo>
                  <a:lnTo>
                    <a:pt x="0" y="457198"/>
                  </a:lnTo>
                  <a:lnTo>
                    <a:pt x="12188825" y="457198"/>
                  </a:lnTo>
                  <a:lnTo>
                    <a:pt x="12188825" y="0"/>
                  </a:lnTo>
                  <a:close/>
                </a:path>
              </a:pathLst>
            </a:custGeom>
            <a:solidFill>
              <a:srgbClr val="BC572C"/>
            </a:solidFill>
          </p:spPr>
          <p:txBody>
            <a:bodyPr wrap="square" lIns="0" tIns="0" rIns="0" bIns="0" rtlCol="0"/>
            <a:lstStyle/>
            <a:p>
              <a:endParaRPr/>
            </a:p>
          </p:txBody>
        </p:sp>
        <p:sp>
          <p:nvSpPr>
            <p:cNvPr id="4" name="object 4"/>
            <p:cNvSpPr/>
            <p:nvPr/>
          </p:nvSpPr>
          <p:spPr>
            <a:xfrm>
              <a:off x="13" y="6334314"/>
              <a:ext cx="12188825" cy="64135"/>
            </a:xfrm>
            <a:custGeom>
              <a:avLst/>
              <a:gdLst/>
              <a:ahLst/>
              <a:cxnLst/>
              <a:rect l="l" t="t" r="r" b="b"/>
              <a:pathLst>
                <a:path w="12188825" h="64135">
                  <a:moveTo>
                    <a:pt x="12188825" y="0"/>
                  </a:moveTo>
                  <a:lnTo>
                    <a:pt x="0" y="0"/>
                  </a:lnTo>
                  <a:lnTo>
                    <a:pt x="0" y="64008"/>
                  </a:lnTo>
                  <a:lnTo>
                    <a:pt x="12188825" y="64008"/>
                  </a:lnTo>
                  <a:lnTo>
                    <a:pt x="12188825" y="0"/>
                  </a:lnTo>
                  <a:close/>
                </a:path>
              </a:pathLst>
            </a:custGeom>
            <a:solidFill>
              <a:srgbClr val="E38312"/>
            </a:solidFill>
          </p:spPr>
          <p:txBody>
            <a:bodyPr wrap="square" lIns="0" tIns="0" rIns="0" bIns="0" rtlCol="0"/>
            <a:lstStyle/>
            <a:p>
              <a:endParaRPr/>
            </a:p>
          </p:txBody>
        </p:sp>
      </p:grpSp>
      <p:sp>
        <p:nvSpPr>
          <p:cNvPr id="5" name="object 5"/>
          <p:cNvSpPr/>
          <p:nvPr/>
        </p:nvSpPr>
        <p:spPr>
          <a:xfrm>
            <a:off x="1207655" y="4343400"/>
            <a:ext cx="9875520" cy="0"/>
          </a:xfrm>
          <a:custGeom>
            <a:avLst/>
            <a:gdLst/>
            <a:ahLst/>
            <a:cxnLst/>
            <a:rect l="l" t="t" r="r" b="b"/>
            <a:pathLst>
              <a:path w="9875520">
                <a:moveTo>
                  <a:pt x="0" y="0"/>
                </a:moveTo>
                <a:lnTo>
                  <a:pt x="9875507" y="0"/>
                </a:lnTo>
              </a:path>
            </a:pathLst>
          </a:custGeom>
          <a:ln w="6350">
            <a:solidFill>
              <a:srgbClr val="7E7E7E"/>
            </a:solidFill>
          </a:ln>
        </p:spPr>
        <p:txBody>
          <a:bodyPr wrap="square" lIns="0" tIns="0" rIns="0" bIns="0" rtlCol="0"/>
          <a:lstStyle/>
          <a:p>
            <a:endParaRPr/>
          </a:p>
        </p:txBody>
      </p:sp>
      <p:sp>
        <p:nvSpPr>
          <p:cNvPr id="6" name="object 6" descr="$PPTXTitle"/>
          <p:cNvSpPr txBox="1">
            <a:spLocks noGrp="1"/>
          </p:cNvSpPr>
          <p:nvPr>
            <p:ph type="title"/>
          </p:nvPr>
        </p:nvSpPr>
        <p:spPr>
          <a:xfrm>
            <a:off x="1920619" y="3083242"/>
            <a:ext cx="5210175" cy="921385"/>
          </a:xfrm>
          <a:prstGeom prst="rect">
            <a:avLst/>
          </a:prstGeom>
        </p:spPr>
        <p:txBody>
          <a:bodyPr vert="horz" wrap="square" lIns="0" tIns="76835" rIns="0" bIns="0" rtlCol="0">
            <a:spAutoFit/>
          </a:bodyPr>
          <a:lstStyle/>
          <a:p>
            <a:pPr marL="96520" marR="5080" indent="-83820">
              <a:lnSpc>
                <a:spcPts val="3290"/>
              </a:lnSpc>
              <a:spcBef>
                <a:spcPts val="605"/>
              </a:spcBef>
            </a:pPr>
            <a:r>
              <a:rPr sz="3100" spc="-75" dirty="0">
                <a:solidFill>
                  <a:srgbClr val="252525"/>
                </a:solidFill>
              </a:rPr>
              <a:t>SUPPLY</a:t>
            </a:r>
            <a:r>
              <a:rPr sz="3100" spc="-250" dirty="0">
                <a:solidFill>
                  <a:srgbClr val="252525"/>
                </a:solidFill>
              </a:rPr>
              <a:t> </a:t>
            </a:r>
            <a:r>
              <a:rPr sz="3100" spc="-45" dirty="0">
                <a:solidFill>
                  <a:srgbClr val="252525"/>
                </a:solidFill>
              </a:rPr>
              <a:t>CHAIN</a:t>
            </a:r>
            <a:r>
              <a:rPr sz="3100" spc="-229" dirty="0">
                <a:solidFill>
                  <a:srgbClr val="252525"/>
                </a:solidFill>
              </a:rPr>
              <a:t> </a:t>
            </a:r>
            <a:r>
              <a:rPr sz="3100" spc="-35" dirty="0">
                <a:solidFill>
                  <a:srgbClr val="252525"/>
                </a:solidFill>
              </a:rPr>
              <a:t>RISK</a:t>
            </a:r>
            <a:r>
              <a:rPr sz="3100" spc="-190" dirty="0">
                <a:solidFill>
                  <a:srgbClr val="252525"/>
                </a:solidFill>
              </a:rPr>
              <a:t> </a:t>
            </a:r>
            <a:r>
              <a:rPr sz="3100" spc="-25" dirty="0">
                <a:solidFill>
                  <a:srgbClr val="252525"/>
                </a:solidFill>
              </a:rPr>
              <a:t>AND </a:t>
            </a:r>
            <a:r>
              <a:rPr sz="3100" spc="-70" dirty="0">
                <a:solidFill>
                  <a:srgbClr val="252525"/>
                </a:solidFill>
              </a:rPr>
              <a:t>CUSTOMER</a:t>
            </a:r>
            <a:r>
              <a:rPr sz="3100" spc="-180" dirty="0">
                <a:solidFill>
                  <a:srgbClr val="252525"/>
                </a:solidFill>
              </a:rPr>
              <a:t> </a:t>
            </a:r>
            <a:r>
              <a:rPr sz="3100" spc="-65" dirty="0">
                <a:solidFill>
                  <a:srgbClr val="252525"/>
                </a:solidFill>
              </a:rPr>
              <a:t>RETENTION</a:t>
            </a:r>
            <a:r>
              <a:rPr sz="3100" spc="-170" dirty="0">
                <a:solidFill>
                  <a:srgbClr val="252525"/>
                </a:solidFill>
              </a:rPr>
              <a:t> </a:t>
            </a:r>
            <a:r>
              <a:rPr sz="3100" spc="-50" dirty="0">
                <a:solidFill>
                  <a:srgbClr val="252525"/>
                </a:solidFill>
              </a:rPr>
              <a:t>ANALYSIS</a:t>
            </a:r>
            <a:endParaRPr sz="3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79806" rIns="0" bIns="0" rtlCol="0">
            <a:spAutoFit/>
          </a:bodyPr>
          <a:lstStyle/>
          <a:p>
            <a:pPr marL="2898775">
              <a:lnSpc>
                <a:spcPct val="100000"/>
              </a:lnSpc>
              <a:spcBef>
                <a:spcPts val="130"/>
              </a:spcBef>
            </a:pPr>
            <a:r>
              <a:rPr sz="3500" spc="-50" dirty="0"/>
              <a:t>INTRODUCTION</a:t>
            </a:r>
            <a:endParaRPr sz="3500"/>
          </a:p>
        </p:txBody>
      </p:sp>
      <p:sp>
        <p:nvSpPr>
          <p:cNvPr id="3" name="object 3"/>
          <p:cNvSpPr txBox="1"/>
          <p:nvPr/>
        </p:nvSpPr>
        <p:spPr>
          <a:xfrm>
            <a:off x="1071880" y="1702985"/>
            <a:ext cx="10222865" cy="4122420"/>
          </a:xfrm>
          <a:prstGeom prst="rect">
            <a:avLst/>
          </a:prstGeom>
        </p:spPr>
        <p:txBody>
          <a:bodyPr vert="horz" wrap="square" lIns="0" tIns="97155" rIns="0" bIns="0" rtlCol="0">
            <a:spAutoFit/>
          </a:bodyPr>
          <a:lstStyle/>
          <a:p>
            <a:pPr marL="307975" indent="-282575">
              <a:lnSpc>
                <a:spcPct val="100000"/>
              </a:lnSpc>
              <a:spcBef>
                <a:spcPts val="765"/>
              </a:spcBef>
              <a:buClr>
                <a:srgbClr val="E38312"/>
              </a:buClr>
              <a:buFont typeface="Wingdings"/>
              <a:buChar char=""/>
              <a:tabLst>
                <a:tab pos="307975" algn="l"/>
              </a:tabLst>
            </a:pPr>
            <a:r>
              <a:rPr sz="2000" b="1" dirty="0">
                <a:solidFill>
                  <a:srgbClr val="404040"/>
                </a:solidFill>
                <a:latin typeface="Calibri"/>
                <a:cs typeface="Calibri"/>
              </a:rPr>
              <a:t>What</a:t>
            </a:r>
            <a:r>
              <a:rPr sz="2000" b="1" spc="-50" dirty="0">
                <a:solidFill>
                  <a:srgbClr val="404040"/>
                </a:solidFill>
                <a:latin typeface="Calibri"/>
                <a:cs typeface="Calibri"/>
              </a:rPr>
              <a:t> </a:t>
            </a:r>
            <a:r>
              <a:rPr sz="2000" b="1" dirty="0">
                <a:solidFill>
                  <a:srgbClr val="404040"/>
                </a:solidFill>
                <a:latin typeface="Calibri"/>
                <a:cs typeface="Calibri"/>
              </a:rPr>
              <a:t>is</a:t>
            </a:r>
            <a:r>
              <a:rPr sz="2000" b="1" spc="-50" dirty="0">
                <a:solidFill>
                  <a:srgbClr val="404040"/>
                </a:solidFill>
                <a:latin typeface="Calibri"/>
                <a:cs typeface="Calibri"/>
              </a:rPr>
              <a:t> </a:t>
            </a:r>
            <a:r>
              <a:rPr sz="2000" b="1" dirty="0">
                <a:solidFill>
                  <a:srgbClr val="404040"/>
                </a:solidFill>
                <a:latin typeface="Calibri"/>
                <a:cs typeface="Calibri"/>
              </a:rPr>
              <a:t>a</a:t>
            </a:r>
            <a:r>
              <a:rPr sz="2000" b="1" spc="-35" dirty="0">
                <a:solidFill>
                  <a:srgbClr val="404040"/>
                </a:solidFill>
                <a:latin typeface="Calibri"/>
                <a:cs typeface="Calibri"/>
              </a:rPr>
              <a:t> </a:t>
            </a:r>
            <a:r>
              <a:rPr sz="2000" b="1" dirty="0">
                <a:solidFill>
                  <a:srgbClr val="404040"/>
                </a:solidFill>
                <a:latin typeface="Calibri"/>
                <a:cs typeface="Calibri"/>
              </a:rPr>
              <a:t>Supply</a:t>
            </a:r>
            <a:r>
              <a:rPr sz="2000" b="1" spc="-55" dirty="0">
                <a:solidFill>
                  <a:srgbClr val="404040"/>
                </a:solidFill>
                <a:latin typeface="Calibri"/>
                <a:cs typeface="Calibri"/>
              </a:rPr>
              <a:t> </a:t>
            </a:r>
            <a:r>
              <a:rPr sz="2000" b="1" spc="-10" dirty="0">
                <a:solidFill>
                  <a:srgbClr val="404040"/>
                </a:solidFill>
                <a:latin typeface="Calibri"/>
                <a:cs typeface="Calibri"/>
              </a:rPr>
              <a:t>Chain?</a:t>
            </a:r>
            <a:endParaRPr sz="2000" dirty="0">
              <a:latin typeface="Calibri"/>
              <a:cs typeface="Calibri"/>
            </a:endParaRPr>
          </a:p>
          <a:p>
            <a:pPr marL="25400" marR="5080">
              <a:lnSpc>
                <a:spcPct val="80000"/>
              </a:lnSpc>
              <a:spcBef>
                <a:spcPts val="1375"/>
              </a:spcBef>
            </a:pPr>
            <a:r>
              <a:rPr sz="2400" dirty="0">
                <a:solidFill>
                  <a:srgbClr val="404040"/>
                </a:solidFill>
                <a:latin typeface="Calibri"/>
                <a:cs typeface="Calibri"/>
              </a:rPr>
              <a:t>A</a:t>
            </a:r>
            <a:r>
              <a:rPr sz="2400" spc="-90" dirty="0">
                <a:solidFill>
                  <a:srgbClr val="404040"/>
                </a:solidFill>
                <a:latin typeface="Calibri"/>
                <a:cs typeface="Calibri"/>
              </a:rPr>
              <a:t> </a:t>
            </a:r>
            <a:r>
              <a:rPr sz="2400" dirty="0">
                <a:solidFill>
                  <a:srgbClr val="404040"/>
                </a:solidFill>
                <a:latin typeface="Calibri"/>
                <a:cs typeface="Calibri"/>
              </a:rPr>
              <a:t>supply</a:t>
            </a:r>
            <a:r>
              <a:rPr sz="2400" spc="-70" dirty="0">
                <a:solidFill>
                  <a:srgbClr val="404040"/>
                </a:solidFill>
                <a:latin typeface="Calibri"/>
                <a:cs typeface="Calibri"/>
              </a:rPr>
              <a:t> </a:t>
            </a:r>
            <a:r>
              <a:rPr sz="2400" dirty="0">
                <a:solidFill>
                  <a:srgbClr val="404040"/>
                </a:solidFill>
                <a:latin typeface="Calibri"/>
                <a:cs typeface="Calibri"/>
              </a:rPr>
              <a:t>chain</a:t>
            </a:r>
            <a:r>
              <a:rPr sz="2400" spc="-75" dirty="0">
                <a:solidFill>
                  <a:srgbClr val="404040"/>
                </a:solidFill>
                <a:latin typeface="Calibri"/>
                <a:cs typeface="Calibri"/>
              </a:rPr>
              <a:t> </a:t>
            </a:r>
            <a:r>
              <a:rPr sz="2400" dirty="0">
                <a:solidFill>
                  <a:srgbClr val="404040"/>
                </a:solidFill>
                <a:latin typeface="Calibri"/>
                <a:cs typeface="Calibri"/>
              </a:rPr>
              <a:t>is</a:t>
            </a:r>
            <a:r>
              <a:rPr sz="2400" spc="-90" dirty="0">
                <a:solidFill>
                  <a:srgbClr val="404040"/>
                </a:solidFill>
                <a:latin typeface="Calibri"/>
                <a:cs typeface="Calibri"/>
              </a:rPr>
              <a:t> </a:t>
            </a:r>
            <a:r>
              <a:rPr sz="2400" dirty="0">
                <a:solidFill>
                  <a:srgbClr val="404040"/>
                </a:solidFill>
                <a:latin typeface="Calibri"/>
                <a:cs typeface="Calibri"/>
              </a:rPr>
              <a:t>the</a:t>
            </a:r>
            <a:r>
              <a:rPr sz="2400" spc="-60" dirty="0">
                <a:solidFill>
                  <a:srgbClr val="404040"/>
                </a:solidFill>
                <a:latin typeface="Calibri"/>
                <a:cs typeface="Calibri"/>
              </a:rPr>
              <a:t> </a:t>
            </a:r>
            <a:r>
              <a:rPr sz="2400" dirty="0">
                <a:solidFill>
                  <a:srgbClr val="404040"/>
                </a:solidFill>
                <a:latin typeface="Calibri"/>
                <a:cs typeface="Calibri"/>
              </a:rPr>
              <a:t>complete</a:t>
            </a:r>
            <a:r>
              <a:rPr sz="2400" spc="-70" dirty="0">
                <a:solidFill>
                  <a:srgbClr val="404040"/>
                </a:solidFill>
                <a:latin typeface="Calibri"/>
                <a:cs typeface="Calibri"/>
              </a:rPr>
              <a:t> </a:t>
            </a:r>
            <a:r>
              <a:rPr sz="2400" dirty="0">
                <a:solidFill>
                  <a:srgbClr val="404040"/>
                </a:solidFill>
                <a:latin typeface="Calibri"/>
                <a:cs typeface="Calibri"/>
              </a:rPr>
              <a:t>process</a:t>
            </a:r>
            <a:r>
              <a:rPr sz="2400" spc="-85" dirty="0">
                <a:solidFill>
                  <a:srgbClr val="404040"/>
                </a:solidFill>
                <a:latin typeface="Calibri"/>
                <a:cs typeface="Calibri"/>
              </a:rPr>
              <a:t> </a:t>
            </a:r>
            <a:r>
              <a:rPr sz="2400" dirty="0">
                <a:solidFill>
                  <a:srgbClr val="404040"/>
                </a:solidFill>
                <a:latin typeface="Calibri"/>
                <a:cs typeface="Calibri"/>
              </a:rPr>
              <a:t>of</a:t>
            </a:r>
            <a:r>
              <a:rPr sz="2400" spc="-70" dirty="0">
                <a:solidFill>
                  <a:srgbClr val="404040"/>
                </a:solidFill>
                <a:latin typeface="Calibri"/>
                <a:cs typeface="Calibri"/>
              </a:rPr>
              <a:t> </a:t>
            </a:r>
            <a:r>
              <a:rPr sz="2400" dirty="0">
                <a:solidFill>
                  <a:srgbClr val="404040"/>
                </a:solidFill>
                <a:latin typeface="Calibri"/>
                <a:cs typeface="Calibri"/>
              </a:rPr>
              <a:t>moving</a:t>
            </a:r>
            <a:r>
              <a:rPr sz="2400" spc="-90" dirty="0">
                <a:solidFill>
                  <a:srgbClr val="404040"/>
                </a:solidFill>
                <a:latin typeface="Calibri"/>
                <a:cs typeface="Calibri"/>
              </a:rPr>
              <a:t> </a:t>
            </a:r>
            <a:r>
              <a:rPr sz="2400" dirty="0">
                <a:solidFill>
                  <a:srgbClr val="404040"/>
                </a:solidFill>
                <a:latin typeface="Calibri"/>
                <a:cs typeface="Calibri"/>
              </a:rPr>
              <a:t>a</a:t>
            </a:r>
            <a:r>
              <a:rPr sz="2400" spc="-75" dirty="0">
                <a:solidFill>
                  <a:srgbClr val="404040"/>
                </a:solidFill>
                <a:latin typeface="Calibri"/>
                <a:cs typeface="Calibri"/>
              </a:rPr>
              <a:t> </a:t>
            </a:r>
            <a:r>
              <a:rPr sz="2400" dirty="0">
                <a:solidFill>
                  <a:srgbClr val="404040"/>
                </a:solidFill>
                <a:latin typeface="Calibri"/>
                <a:cs typeface="Calibri"/>
              </a:rPr>
              <a:t>product</a:t>
            </a:r>
            <a:r>
              <a:rPr sz="2400" spc="-85" dirty="0">
                <a:solidFill>
                  <a:srgbClr val="404040"/>
                </a:solidFill>
                <a:latin typeface="Calibri"/>
                <a:cs typeface="Calibri"/>
              </a:rPr>
              <a:t> </a:t>
            </a:r>
            <a:r>
              <a:rPr sz="2400" dirty="0">
                <a:solidFill>
                  <a:srgbClr val="404040"/>
                </a:solidFill>
                <a:latin typeface="Calibri"/>
                <a:cs typeface="Calibri"/>
              </a:rPr>
              <a:t>from</a:t>
            </a:r>
            <a:r>
              <a:rPr sz="2400" spc="-80" dirty="0">
                <a:solidFill>
                  <a:srgbClr val="404040"/>
                </a:solidFill>
                <a:latin typeface="Calibri"/>
                <a:cs typeface="Calibri"/>
              </a:rPr>
              <a:t> </a:t>
            </a:r>
            <a:r>
              <a:rPr sz="2400" dirty="0">
                <a:solidFill>
                  <a:srgbClr val="404040"/>
                </a:solidFill>
                <a:latin typeface="Calibri"/>
                <a:cs typeface="Calibri"/>
              </a:rPr>
              <a:t>the</a:t>
            </a:r>
            <a:r>
              <a:rPr sz="2400" spc="-70" dirty="0">
                <a:solidFill>
                  <a:srgbClr val="404040"/>
                </a:solidFill>
                <a:latin typeface="Calibri"/>
                <a:cs typeface="Calibri"/>
              </a:rPr>
              <a:t> </a:t>
            </a:r>
            <a:r>
              <a:rPr sz="2400" spc="-10" dirty="0">
                <a:solidFill>
                  <a:srgbClr val="404040"/>
                </a:solidFill>
                <a:latin typeface="Calibri"/>
                <a:cs typeface="Calibri"/>
              </a:rPr>
              <a:t>manufacturer </a:t>
            </a:r>
            <a:r>
              <a:rPr sz="2400" dirty="0">
                <a:solidFill>
                  <a:srgbClr val="404040"/>
                </a:solidFill>
                <a:latin typeface="Calibri"/>
                <a:cs typeface="Calibri"/>
              </a:rPr>
              <a:t>to</a:t>
            </a:r>
            <a:r>
              <a:rPr sz="2400" spc="-80" dirty="0">
                <a:solidFill>
                  <a:srgbClr val="404040"/>
                </a:solidFill>
                <a:latin typeface="Calibri"/>
                <a:cs typeface="Calibri"/>
              </a:rPr>
              <a:t> </a:t>
            </a:r>
            <a:r>
              <a:rPr sz="2400" dirty="0">
                <a:solidFill>
                  <a:srgbClr val="404040"/>
                </a:solidFill>
                <a:latin typeface="Calibri"/>
                <a:cs typeface="Calibri"/>
              </a:rPr>
              <a:t>the</a:t>
            </a:r>
            <a:r>
              <a:rPr sz="2400" spc="-65" dirty="0">
                <a:solidFill>
                  <a:srgbClr val="404040"/>
                </a:solidFill>
                <a:latin typeface="Calibri"/>
                <a:cs typeface="Calibri"/>
              </a:rPr>
              <a:t> </a:t>
            </a:r>
            <a:r>
              <a:rPr sz="2400" spc="-30" dirty="0">
                <a:solidFill>
                  <a:srgbClr val="404040"/>
                </a:solidFill>
                <a:latin typeface="Calibri"/>
                <a:cs typeface="Calibri"/>
              </a:rPr>
              <a:t>customer.</a:t>
            </a:r>
            <a:r>
              <a:rPr sz="2400" spc="-100" dirty="0">
                <a:solidFill>
                  <a:srgbClr val="404040"/>
                </a:solidFill>
                <a:latin typeface="Calibri"/>
                <a:cs typeface="Calibri"/>
              </a:rPr>
              <a:t> </a:t>
            </a:r>
            <a:r>
              <a:rPr sz="2400" dirty="0">
                <a:solidFill>
                  <a:srgbClr val="404040"/>
                </a:solidFill>
                <a:latin typeface="Calibri"/>
                <a:cs typeface="Calibri"/>
              </a:rPr>
              <a:t>It</a:t>
            </a:r>
            <a:r>
              <a:rPr sz="2400" spc="-80" dirty="0">
                <a:solidFill>
                  <a:srgbClr val="404040"/>
                </a:solidFill>
                <a:latin typeface="Calibri"/>
                <a:cs typeface="Calibri"/>
              </a:rPr>
              <a:t> </a:t>
            </a:r>
            <a:r>
              <a:rPr sz="2400" spc="-10" dirty="0">
                <a:solidFill>
                  <a:srgbClr val="404040"/>
                </a:solidFill>
                <a:latin typeface="Calibri"/>
                <a:cs typeface="Calibri"/>
              </a:rPr>
              <a:t>involves</a:t>
            </a:r>
            <a:r>
              <a:rPr sz="2400" spc="-60" dirty="0">
                <a:solidFill>
                  <a:srgbClr val="404040"/>
                </a:solidFill>
                <a:latin typeface="Calibri"/>
                <a:cs typeface="Calibri"/>
              </a:rPr>
              <a:t> </a:t>
            </a:r>
            <a:r>
              <a:rPr sz="2400" dirty="0">
                <a:solidFill>
                  <a:srgbClr val="404040"/>
                </a:solidFill>
                <a:latin typeface="Calibri"/>
                <a:cs typeface="Calibri"/>
              </a:rPr>
              <a:t>activities</a:t>
            </a:r>
            <a:r>
              <a:rPr sz="2400" spc="-80" dirty="0">
                <a:solidFill>
                  <a:srgbClr val="404040"/>
                </a:solidFill>
                <a:latin typeface="Calibri"/>
                <a:cs typeface="Calibri"/>
              </a:rPr>
              <a:t> </a:t>
            </a:r>
            <a:r>
              <a:rPr sz="2400" dirty="0">
                <a:solidFill>
                  <a:srgbClr val="404040"/>
                </a:solidFill>
                <a:latin typeface="Calibri"/>
                <a:cs typeface="Calibri"/>
              </a:rPr>
              <a:t>such</a:t>
            </a:r>
            <a:r>
              <a:rPr sz="2400" spc="-75" dirty="0">
                <a:solidFill>
                  <a:srgbClr val="404040"/>
                </a:solidFill>
                <a:latin typeface="Calibri"/>
                <a:cs typeface="Calibri"/>
              </a:rPr>
              <a:t> </a:t>
            </a:r>
            <a:r>
              <a:rPr sz="2400" dirty="0">
                <a:solidFill>
                  <a:srgbClr val="404040"/>
                </a:solidFill>
                <a:latin typeface="Calibri"/>
                <a:cs typeface="Calibri"/>
              </a:rPr>
              <a:t>as</a:t>
            </a:r>
            <a:r>
              <a:rPr sz="2400" spc="-65" dirty="0">
                <a:solidFill>
                  <a:srgbClr val="404040"/>
                </a:solidFill>
                <a:latin typeface="Calibri"/>
                <a:cs typeface="Calibri"/>
              </a:rPr>
              <a:t> </a:t>
            </a:r>
            <a:r>
              <a:rPr sz="2400" dirty="0">
                <a:solidFill>
                  <a:srgbClr val="404040"/>
                </a:solidFill>
                <a:latin typeface="Calibri"/>
                <a:cs typeface="Calibri"/>
              </a:rPr>
              <a:t>production,</a:t>
            </a:r>
            <a:r>
              <a:rPr sz="2400" spc="-55" dirty="0">
                <a:solidFill>
                  <a:srgbClr val="404040"/>
                </a:solidFill>
                <a:latin typeface="Calibri"/>
                <a:cs typeface="Calibri"/>
              </a:rPr>
              <a:t> </a:t>
            </a:r>
            <a:r>
              <a:rPr sz="2400" spc="-10" dirty="0">
                <a:solidFill>
                  <a:srgbClr val="404040"/>
                </a:solidFill>
                <a:latin typeface="Calibri"/>
                <a:cs typeface="Calibri"/>
              </a:rPr>
              <a:t>transportation, warehousing,</a:t>
            </a:r>
            <a:r>
              <a:rPr sz="2400" spc="-80" dirty="0">
                <a:solidFill>
                  <a:srgbClr val="404040"/>
                </a:solidFill>
                <a:latin typeface="Calibri"/>
                <a:cs typeface="Calibri"/>
              </a:rPr>
              <a:t> </a:t>
            </a:r>
            <a:r>
              <a:rPr sz="2400" dirty="0">
                <a:solidFill>
                  <a:srgbClr val="404040"/>
                </a:solidFill>
                <a:latin typeface="Calibri"/>
                <a:cs typeface="Calibri"/>
              </a:rPr>
              <a:t>and</a:t>
            </a:r>
            <a:r>
              <a:rPr sz="2400" spc="-85" dirty="0">
                <a:solidFill>
                  <a:srgbClr val="404040"/>
                </a:solidFill>
                <a:latin typeface="Calibri"/>
                <a:cs typeface="Calibri"/>
              </a:rPr>
              <a:t> </a:t>
            </a:r>
            <a:r>
              <a:rPr sz="2400" spc="-10" dirty="0">
                <a:solidFill>
                  <a:srgbClr val="404040"/>
                </a:solidFill>
                <a:latin typeface="Calibri"/>
                <a:cs typeface="Calibri"/>
              </a:rPr>
              <a:t>delivery.</a:t>
            </a:r>
            <a:endParaRPr sz="2400" dirty="0">
              <a:latin typeface="Calibri"/>
              <a:cs typeface="Calibri"/>
            </a:endParaRPr>
          </a:p>
          <a:p>
            <a:pPr marL="307975" indent="-282575">
              <a:lnSpc>
                <a:spcPct val="100000"/>
              </a:lnSpc>
              <a:spcBef>
                <a:spcPts val="930"/>
              </a:spcBef>
              <a:buClr>
                <a:srgbClr val="E38312"/>
              </a:buClr>
              <a:buFont typeface="Wingdings"/>
              <a:buChar char=""/>
              <a:tabLst>
                <a:tab pos="307975" algn="l"/>
              </a:tabLst>
            </a:pPr>
            <a:r>
              <a:rPr sz="2000" b="1" dirty="0">
                <a:solidFill>
                  <a:srgbClr val="404040"/>
                </a:solidFill>
                <a:latin typeface="Calibri"/>
                <a:cs typeface="Calibri"/>
              </a:rPr>
              <a:t>Why</a:t>
            </a:r>
            <a:r>
              <a:rPr sz="2000" b="1" spc="-50" dirty="0">
                <a:solidFill>
                  <a:srgbClr val="404040"/>
                </a:solidFill>
                <a:latin typeface="Calibri"/>
                <a:cs typeface="Calibri"/>
              </a:rPr>
              <a:t> </a:t>
            </a:r>
            <a:r>
              <a:rPr sz="2000" b="1" dirty="0">
                <a:solidFill>
                  <a:srgbClr val="404040"/>
                </a:solidFill>
                <a:latin typeface="Calibri"/>
                <a:cs typeface="Calibri"/>
              </a:rPr>
              <a:t>is</a:t>
            </a:r>
            <a:r>
              <a:rPr sz="2000" b="1" spc="-45" dirty="0">
                <a:solidFill>
                  <a:srgbClr val="404040"/>
                </a:solidFill>
                <a:latin typeface="Calibri"/>
                <a:cs typeface="Calibri"/>
              </a:rPr>
              <a:t> </a:t>
            </a:r>
            <a:r>
              <a:rPr sz="2000" b="1" spc="-10" dirty="0">
                <a:solidFill>
                  <a:srgbClr val="404040"/>
                </a:solidFill>
                <a:latin typeface="Calibri"/>
                <a:cs typeface="Calibri"/>
              </a:rPr>
              <a:t>Shipment</a:t>
            </a:r>
            <a:r>
              <a:rPr sz="2000" b="1" spc="-90" dirty="0">
                <a:solidFill>
                  <a:srgbClr val="404040"/>
                </a:solidFill>
                <a:latin typeface="Calibri"/>
                <a:cs typeface="Calibri"/>
              </a:rPr>
              <a:t> </a:t>
            </a:r>
            <a:r>
              <a:rPr sz="2000" b="1" dirty="0">
                <a:solidFill>
                  <a:srgbClr val="404040"/>
                </a:solidFill>
                <a:latin typeface="Calibri"/>
                <a:cs typeface="Calibri"/>
              </a:rPr>
              <a:t>Delay</a:t>
            </a:r>
            <a:r>
              <a:rPr sz="2000" b="1" spc="-45" dirty="0">
                <a:solidFill>
                  <a:srgbClr val="404040"/>
                </a:solidFill>
                <a:latin typeface="Calibri"/>
                <a:cs typeface="Calibri"/>
              </a:rPr>
              <a:t> </a:t>
            </a:r>
            <a:r>
              <a:rPr sz="2000" b="1" spc="-10" dirty="0">
                <a:solidFill>
                  <a:srgbClr val="404040"/>
                </a:solidFill>
                <a:latin typeface="Calibri"/>
                <a:cs typeface="Calibri"/>
              </a:rPr>
              <a:t>Important?</a:t>
            </a:r>
            <a:endParaRPr sz="2000" dirty="0">
              <a:latin typeface="Calibri"/>
              <a:cs typeface="Calibri"/>
            </a:endParaRPr>
          </a:p>
          <a:p>
            <a:pPr marL="25400" marR="140335">
              <a:lnSpc>
                <a:spcPct val="79200"/>
              </a:lnSpc>
              <a:spcBef>
                <a:spcPts val="1400"/>
              </a:spcBef>
            </a:pPr>
            <a:r>
              <a:rPr sz="2400" dirty="0">
                <a:solidFill>
                  <a:srgbClr val="404040"/>
                </a:solidFill>
                <a:latin typeface="Calibri"/>
                <a:cs typeface="Calibri"/>
              </a:rPr>
              <a:t>Late</a:t>
            </a:r>
            <a:r>
              <a:rPr sz="2400" spc="-70" dirty="0">
                <a:solidFill>
                  <a:srgbClr val="404040"/>
                </a:solidFill>
                <a:latin typeface="Calibri"/>
                <a:cs typeface="Calibri"/>
              </a:rPr>
              <a:t> </a:t>
            </a:r>
            <a:r>
              <a:rPr sz="2400" spc="-10" dirty="0">
                <a:solidFill>
                  <a:srgbClr val="404040"/>
                </a:solidFill>
                <a:latin typeface="Calibri"/>
                <a:cs typeface="Calibri"/>
              </a:rPr>
              <a:t>deliveries</a:t>
            </a:r>
            <a:r>
              <a:rPr sz="2400" spc="-75" dirty="0">
                <a:solidFill>
                  <a:srgbClr val="404040"/>
                </a:solidFill>
                <a:latin typeface="Calibri"/>
                <a:cs typeface="Calibri"/>
              </a:rPr>
              <a:t> </a:t>
            </a:r>
            <a:r>
              <a:rPr sz="2400" dirty="0">
                <a:solidFill>
                  <a:srgbClr val="404040"/>
                </a:solidFill>
                <a:latin typeface="Calibri"/>
                <a:cs typeface="Calibri"/>
              </a:rPr>
              <a:t>reduce</a:t>
            </a:r>
            <a:r>
              <a:rPr sz="2400" spc="-75" dirty="0">
                <a:solidFill>
                  <a:srgbClr val="404040"/>
                </a:solidFill>
                <a:latin typeface="Calibri"/>
                <a:cs typeface="Calibri"/>
              </a:rPr>
              <a:t> </a:t>
            </a:r>
            <a:r>
              <a:rPr sz="2400" dirty="0">
                <a:solidFill>
                  <a:srgbClr val="404040"/>
                </a:solidFill>
                <a:latin typeface="Calibri"/>
                <a:cs typeface="Calibri"/>
              </a:rPr>
              <a:t>customer</a:t>
            </a:r>
            <a:r>
              <a:rPr sz="2400" spc="-80" dirty="0">
                <a:solidFill>
                  <a:srgbClr val="404040"/>
                </a:solidFill>
                <a:latin typeface="Calibri"/>
                <a:cs typeface="Calibri"/>
              </a:rPr>
              <a:t> </a:t>
            </a:r>
            <a:r>
              <a:rPr sz="2400" spc="-10" dirty="0">
                <a:solidFill>
                  <a:srgbClr val="404040"/>
                </a:solidFill>
                <a:latin typeface="Calibri"/>
                <a:cs typeface="Calibri"/>
              </a:rPr>
              <a:t>satisfaction</a:t>
            </a:r>
            <a:r>
              <a:rPr sz="2400" spc="-90" dirty="0">
                <a:solidFill>
                  <a:srgbClr val="404040"/>
                </a:solidFill>
                <a:latin typeface="Calibri"/>
                <a:cs typeface="Calibri"/>
              </a:rPr>
              <a:t> </a:t>
            </a:r>
            <a:r>
              <a:rPr sz="2400" dirty="0">
                <a:solidFill>
                  <a:srgbClr val="404040"/>
                </a:solidFill>
                <a:latin typeface="Calibri"/>
                <a:cs typeface="Calibri"/>
              </a:rPr>
              <a:t>.</a:t>
            </a:r>
            <a:r>
              <a:rPr sz="2400" spc="-85" dirty="0">
                <a:solidFill>
                  <a:srgbClr val="404040"/>
                </a:solidFill>
                <a:latin typeface="Calibri"/>
                <a:cs typeface="Calibri"/>
              </a:rPr>
              <a:t> </a:t>
            </a:r>
            <a:r>
              <a:rPr sz="2400" spc="-10" dirty="0">
                <a:solidFill>
                  <a:srgbClr val="404040"/>
                </a:solidFill>
                <a:latin typeface="Calibri"/>
                <a:cs typeface="Calibri"/>
              </a:rPr>
              <a:t>Delays</a:t>
            </a:r>
            <a:r>
              <a:rPr sz="2400" spc="-95" dirty="0">
                <a:solidFill>
                  <a:srgbClr val="404040"/>
                </a:solidFill>
                <a:latin typeface="Calibri"/>
                <a:cs typeface="Calibri"/>
              </a:rPr>
              <a:t> </a:t>
            </a:r>
            <a:r>
              <a:rPr sz="2400" spc="-10" dirty="0">
                <a:solidFill>
                  <a:srgbClr val="404040"/>
                </a:solidFill>
                <a:latin typeface="Calibri"/>
                <a:cs typeface="Calibri"/>
              </a:rPr>
              <a:t>increase</a:t>
            </a:r>
            <a:r>
              <a:rPr sz="2400" spc="-65" dirty="0">
                <a:solidFill>
                  <a:srgbClr val="404040"/>
                </a:solidFill>
                <a:latin typeface="Calibri"/>
                <a:cs typeface="Calibri"/>
              </a:rPr>
              <a:t> </a:t>
            </a:r>
            <a:r>
              <a:rPr sz="2400" spc="-20" dirty="0">
                <a:solidFill>
                  <a:srgbClr val="404040"/>
                </a:solidFill>
                <a:latin typeface="Calibri"/>
                <a:cs typeface="Calibri"/>
              </a:rPr>
              <a:t>transportation</a:t>
            </a:r>
            <a:r>
              <a:rPr sz="2400" spc="-114" dirty="0">
                <a:solidFill>
                  <a:srgbClr val="404040"/>
                </a:solidFill>
                <a:latin typeface="Calibri"/>
                <a:cs typeface="Calibri"/>
              </a:rPr>
              <a:t> </a:t>
            </a:r>
            <a:r>
              <a:rPr sz="2400" spc="-25" dirty="0">
                <a:solidFill>
                  <a:srgbClr val="404040"/>
                </a:solidFill>
                <a:latin typeface="Calibri"/>
                <a:cs typeface="Calibri"/>
              </a:rPr>
              <a:t>and </a:t>
            </a:r>
            <a:r>
              <a:rPr sz="2400" spc="-10" dirty="0">
                <a:solidFill>
                  <a:srgbClr val="404040"/>
                </a:solidFill>
                <a:latin typeface="Calibri"/>
                <a:cs typeface="Calibri"/>
              </a:rPr>
              <a:t>operational</a:t>
            </a:r>
            <a:r>
              <a:rPr sz="2400" spc="-105" dirty="0">
                <a:solidFill>
                  <a:srgbClr val="404040"/>
                </a:solidFill>
                <a:latin typeface="Calibri"/>
                <a:cs typeface="Calibri"/>
              </a:rPr>
              <a:t> </a:t>
            </a:r>
            <a:r>
              <a:rPr sz="2400" dirty="0">
                <a:solidFill>
                  <a:srgbClr val="404040"/>
                </a:solidFill>
                <a:latin typeface="Calibri"/>
                <a:cs typeface="Calibri"/>
              </a:rPr>
              <a:t>costs</a:t>
            </a:r>
            <a:r>
              <a:rPr sz="2400" spc="-95" dirty="0">
                <a:solidFill>
                  <a:srgbClr val="404040"/>
                </a:solidFill>
                <a:latin typeface="Calibri"/>
                <a:cs typeface="Calibri"/>
              </a:rPr>
              <a:t> </a:t>
            </a:r>
            <a:r>
              <a:rPr sz="2400" dirty="0">
                <a:solidFill>
                  <a:srgbClr val="404040"/>
                </a:solidFill>
                <a:latin typeface="Calibri"/>
                <a:cs typeface="Calibri"/>
              </a:rPr>
              <a:t>.</a:t>
            </a:r>
            <a:r>
              <a:rPr sz="2400" spc="-100" dirty="0">
                <a:solidFill>
                  <a:srgbClr val="404040"/>
                </a:solidFill>
                <a:latin typeface="Calibri"/>
                <a:cs typeface="Calibri"/>
              </a:rPr>
              <a:t> </a:t>
            </a:r>
            <a:r>
              <a:rPr sz="2400" dirty="0">
                <a:solidFill>
                  <a:srgbClr val="404040"/>
                </a:solidFill>
                <a:latin typeface="Calibri"/>
                <a:cs typeface="Calibri"/>
              </a:rPr>
              <a:t>Businesses</a:t>
            </a:r>
            <a:r>
              <a:rPr sz="2400" spc="-90" dirty="0">
                <a:solidFill>
                  <a:srgbClr val="404040"/>
                </a:solidFill>
                <a:latin typeface="Calibri"/>
                <a:cs typeface="Calibri"/>
              </a:rPr>
              <a:t> </a:t>
            </a:r>
            <a:r>
              <a:rPr sz="2400" dirty="0">
                <a:solidFill>
                  <a:srgbClr val="404040"/>
                </a:solidFill>
                <a:latin typeface="Calibri"/>
                <a:cs typeface="Calibri"/>
              </a:rPr>
              <a:t>need</a:t>
            </a:r>
            <a:r>
              <a:rPr sz="2400" spc="-95" dirty="0">
                <a:solidFill>
                  <a:srgbClr val="404040"/>
                </a:solidFill>
                <a:latin typeface="Calibri"/>
                <a:cs typeface="Calibri"/>
              </a:rPr>
              <a:t> </a:t>
            </a:r>
            <a:r>
              <a:rPr sz="2400" dirty="0">
                <a:solidFill>
                  <a:srgbClr val="404040"/>
                </a:solidFill>
                <a:latin typeface="Calibri"/>
                <a:cs typeface="Calibri"/>
              </a:rPr>
              <a:t>to</a:t>
            </a:r>
            <a:r>
              <a:rPr sz="2400" spc="-110" dirty="0">
                <a:solidFill>
                  <a:srgbClr val="404040"/>
                </a:solidFill>
                <a:latin typeface="Calibri"/>
                <a:cs typeface="Calibri"/>
              </a:rPr>
              <a:t> </a:t>
            </a:r>
            <a:r>
              <a:rPr sz="2400" spc="-10" dirty="0">
                <a:solidFill>
                  <a:srgbClr val="404040"/>
                </a:solidFill>
                <a:latin typeface="Calibri"/>
                <a:cs typeface="Calibri"/>
              </a:rPr>
              <a:t>identify</a:t>
            </a:r>
            <a:r>
              <a:rPr sz="2400" spc="-90" dirty="0">
                <a:solidFill>
                  <a:srgbClr val="404040"/>
                </a:solidFill>
                <a:latin typeface="Calibri"/>
                <a:cs typeface="Calibri"/>
              </a:rPr>
              <a:t> </a:t>
            </a:r>
            <a:r>
              <a:rPr sz="2400" dirty="0">
                <a:solidFill>
                  <a:srgbClr val="404040"/>
                </a:solidFill>
                <a:latin typeface="Calibri"/>
                <a:cs typeface="Calibri"/>
              </a:rPr>
              <a:t>delivery</a:t>
            </a:r>
            <a:r>
              <a:rPr sz="2400" spc="-90" dirty="0">
                <a:solidFill>
                  <a:srgbClr val="404040"/>
                </a:solidFill>
                <a:latin typeface="Calibri"/>
                <a:cs typeface="Calibri"/>
              </a:rPr>
              <a:t> </a:t>
            </a:r>
            <a:r>
              <a:rPr sz="2400" dirty="0">
                <a:solidFill>
                  <a:srgbClr val="404040"/>
                </a:solidFill>
                <a:latin typeface="Calibri"/>
                <a:cs typeface="Calibri"/>
              </a:rPr>
              <a:t>risks</a:t>
            </a:r>
            <a:r>
              <a:rPr sz="2400" spc="-100" dirty="0">
                <a:solidFill>
                  <a:srgbClr val="404040"/>
                </a:solidFill>
                <a:latin typeface="Calibri"/>
                <a:cs typeface="Calibri"/>
              </a:rPr>
              <a:t> </a:t>
            </a:r>
            <a:r>
              <a:rPr sz="2400" dirty="0">
                <a:solidFill>
                  <a:srgbClr val="404040"/>
                </a:solidFill>
                <a:latin typeface="Calibri"/>
                <a:cs typeface="Calibri"/>
              </a:rPr>
              <a:t>to</a:t>
            </a:r>
            <a:r>
              <a:rPr sz="2400" spc="-95" dirty="0">
                <a:solidFill>
                  <a:srgbClr val="404040"/>
                </a:solidFill>
                <a:latin typeface="Calibri"/>
                <a:cs typeface="Calibri"/>
              </a:rPr>
              <a:t> </a:t>
            </a:r>
            <a:r>
              <a:rPr sz="2400" dirty="0">
                <a:solidFill>
                  <a:srgbClr val="404040"/>
                </a:solidFill>
                <a:latin typeface="Calibri"/>
                <a:cs typeface="Calibri"/>
              </a:rPr>
              <a:t>improve</a:t>
            </a:r>
            <a:r>
              <a:rPr sz="2400" spc="-80" dirty="0">
                <a:solidFill>
                  <a:srgbClr val="404040"/>
                </a:solidFill>
                <a:latin typeface="Calibri"/>
                <a:cs typeface="Calibri"/>
              </a:rPr>
              <a:t> </a:t>
            </a:r>
            <a:r>
              <a:rPr sz="2400" spc="-10" dirty="0">
                <a:solidFill>
                  <a:srgbClr val="404040"/>
                </a:solidFill>
                <a:latin typeface="Calibri"/>
                <a:cs typeface="Calibri"/>
              </a:rPr>
              <a:t>efficiency.</a:t>
            </a:r>
            <a:endParaRPr sz="2400" dirty="0">
              <a:latin typeface="Calibri"/>
              <a:cs typeface="Calibri"/>
            </a:endParaRPr>
          </a:p>
          <a:p>
            <a:pPr marL="251460" indent="-240029">
              <a:lnSpc>
                <a:spcPct val="100000"/>
              </a:lnSpc>
              <a:spcBef>
                <a:spcPts val="925"/>
              </a:spcBef>
              <a:buClr>
                <a:srgbClr val="E38312"/>
              </a:buClr>
              <a:buFont typeface="Wingdings"/>
              <a:buChar char=""/>
              <a:tabLst>
                <a:tab pos="251460" algn="l"/>
              </a:tabLst>
            </a:pPr>
            <a:r>
              <a:rPr sz="2000" b="1" dirty="0">
                <a:solidFill>
                  <a:srgbClr val="404040"/>
                </a:solidFill>
                <a:latin typeface="Calibri"/>
                <a:cs typeface="Calibri"/>
              </a:rPr>
              <a:t>Project</a:t>
            </a:r>
            <a:r>
              <a:rPr sz="2000" b="1" spc="-95" dirty="0">
                <a:solidFill>
                  <a:srgbClr val="404040"/>
                </a:solidFill>
                <a:latin typeface="Calibri"/>
                <a:cs typeface="Calibri"/>
              </a:rPr>
              <a:t> </a:t>
            </a:r>
            <a:r>
              <a:rPr sz="2000" b="1" dirty="0">
                <a:solidFill>
                  <a:srgbClr val="404040"/>
                </a:solidFill>
                <a:latin typeface="Calibri"/>
                <a:cs typeface="Calibri"/>
              </a:rPr>
              <a:t>Goal</a:t>
            </a:r>
            <a:r>
              <a:rPr sz="2000" b="1" spc="-95" dirty="0">
                <a:solidFill>
                  <a:srgbClr val="404040"/>
                </a:solidFill>
                <a:latin typeface="Calibri"/>
                <a:cs typeface="Calibri"/>
              </a:rPr>
              <a:t> </a:t>
            </a:r>
            <a:r>
              <a:rPr sz="2000" b="1" spc="-50" dirty="0">
                <a:solidFill>
                  <a:srgbClr val="404040"/>
                </a:solidFill>
                <a:latin typeface="Calibri"/>
                <a:cs typeface="Calibri"/>
              </a:rPr>
              <a:t>:</a:t>
            </a:r>
            <a:endParaRPr sz="2000" dirty="0">
              <a:latin typeface="Calibri"/>
              <a:cs typeface="Calibri"/>
            </a:endParaRPr>
          </a:p>
          <a:p>
            <a:pPr marL="25400" marR="364490">
              <a:lnSpc>
                <a:spcPct val="80000"/>
              </a:lnSpc>
              <a:spcBef>
                <a:spcPts val="1375"/>
              </a:spcBef>
            </a:pPr>
            <a:r>
              <a:rPr sz="2400" dirty="0">
                <a:solidFill>
                  <a:srgbClr val="404040"/>
                </a:solidFill>
                <a:latin typeface="Calibri"/>
                <a:cs typeface="Calibri"/>
              </a:rPr>
              <a:t>This</a:t>
            </a:r>
            <a:r>
              <a:rPr sz="2400" spc="-80" dirty="0">
                <a:solidFill>
                  <a:srgbClr val="404040"/>
                </a:solidFill>
                <a:latin typeface="Calibri"/>
                <a:cs typeface="Calibri"/>
              </a:rPr>
              <a:t> </a:t>
            </a:r>
            <a:r>
              <a:rPr sz="2400" spc="-10" dirty="0">
                <a:solidFill>
                  <a:srgbClr val="404040"/>
                </a:solidFill>
                <a:latin typeface="Calibri"/>
                <a:cs typeface="Calibri"/>
              </a:rPr>
              <a:t>project</a:t>
            </a:r>
            <a:r>
              <a:rPr sz="2400" spc="-95" dirty="0">
                <a:solidFill>
                  <a:srgbClr val="404040"/>
                </a:solidFill>
                <a:latin typeface="Calibri"/>
                <a:cs typeface="Calibri"/>
              </a:rPr>
              <a:t> </a:t>
            </a:r>
            <a:r>
              <a:rPr sz="2400" spc="-20" dirty="0">
                <a:solidFill>
                  <a:srgbClr val="404040"/>
                </a:solidFill>
                <a:latin typeface="Calibri"/>
                <a:cs typeface="Calibri"/>
              </a:rPr>
              <a:t>analyzes</a:t>
            </a:r>
            <a:r>
              <a:rPr sz="2400" spc="-95" dirty="0">
                <a:solidFill>
                  <a:srgbClr val="404040"/>
                </a:solidFill>
                <a:latin typeface="Calibri"/>
                <a:cs typeface="Calibri"/>
              </a:rPr>
              <a:t> </a:t>
            </a:r>
            <a:r>
              <a:rPr sz="2400" spc="-10" dirty="0">
                <a:solidFill>
                  <a:srgbClr val="404040"/>
                </a:solidFill>
                <a:latin typeface="Calibri"/>
                <a:cs typeface="Calibri"/>
              </a:rPr>
              <a:t>shipment</a:t>
            </a:r>
            <a:r>
              <a:rPr sz="2400" spc="-85" dirty="0">
                <a:solidFill>
                  <a:srgbClr val="404040"/>
                </a:solidFill>
                <a:latin typeface="Calibri"/>
                <a:cs typeface="Calibri"/>
              </a:rPr>
              <a:t> </a:t>
            </a:r>
            <a:r>
              <a:rPr sz="2400" dirty="0">
                <a:solidFill>
                  <a:srgbClr val="404040"/>
                </a:solidFill>
                <a:latin typeface="Calibri"/>
                <a:cs typeface="Calibri"/>
              </a:rPr>
              <a:t>data</a:t>
            </a:r>
            <a:r>
              <a:rPr sz="2400" spc="-85" dirty="0">
                <a:solidFill>
                  <a:srgbClr val="404040"/>
                </a:solidFill>
                <a:latin typeface="Calibri"/>
                <a:cs typeface="Calibri"/>
              </a:rPr>
              <a:t> </a:t>
            </a:r>
            <a:r>
              <a:rPr sz="2400" dirty="0">
                <a:solidFill>
                  <a:srgbClr val="404040"/>
                </a:solidFill>
                <a:latin typeface="Calibri"/>
                <a:cs typeface="Calibri"/>
              </a:rPr>
              <a:t>to</a:t>
            </a:r>
            <a:r>
              <a:rPr sz="2400" spc="-85" dirty="0">
                <a:solidFill>
                  <a:srgbClr val="404040"/>
                </a:solidFill>
                <a:latin typeface="Calibri"/>
                <a:cs typeface="Calibri"/>
              </a:rPr>
              <a:t> </a:t>
            </a:r>
            <a:r>
              <a:rPr sz="2400" spc="-10" dirty="0">
                <a:solidFill>
                  <a:srgbClr val="404040"/>
                </a:solidFill>
                <a:latin typeface="Calibri"/>
                <a:cs typeface="Calibri"/>
              </a:rPr>
              <a:t>identify</a:t>
            </a:r>
            <a:r>
              <a:rPr sz="2400" spc="-80" dirty="0">
                <a:solidFill>
                  <a:srgbClr val="404040"/>
                </a:solidFill>
                <a:latin typeface="Calibri"/>
                <a:cs typeface="Calibri"/>
              </a:rPr>
              <a:t> </a:t>
            </a:r>
            <a:r>
              <a:rPr sz="2400" spc="-10" dirty="0">
                <a:solidFill>
                  <a:srgbClr val="404040"/>
                </a:solidFill>
                <a:latin typeface="Calibri"/>
                <a:cs typeface="Calibri"/>
              </a:rPr>
              <a:t>delivery</a:t>
            </a:r>
            <a:r>
              <a:rPr sz="2400" spc="-70" dirty="0">
                <a:solidFill>
                  <a:srgbClr val="404040"/>
                </a:solidFill>
                <a:latin typeface="Calibri"/>
                <a:cs typeface="Calibri"/>
              </a:rPr>
              <a:t> </a:t>
            </a:r>
            <a:r>
              <a:rPr sz="2400" spc="-10" dirty="0">
                <a:solidFill>
                  <a:srgbClr val="404040"/>
                </a:solidFill>
                <a:latin typeface="Calibri"/>
                <a:cs typeface="Calibri"/>
              </a:rPr>
              <a:t>delays,</a:t>
            </a:r>
            <a:r>
              <a:rPr sz="2400" spc="-95" dirty="0">
                <a:solidFill>
                  <a:srgbClr val="404040"/>
                </a:solidFill>
                <a:latin typeface="Calibri"/>
                <a:cs typeface="Calibri"/>
              </a:rPr>
              <a:t> </a:t>
            </a:r>
            <a:r>
              <a:rPr sz="2400" spc="-10" dirty="0">
                <a:solidFill>
                  <a:srgbClr val="404040"/>
                </a:solidFill>
                <a:latin typeface="Calibri"/>
                <a:cs typeface="Calibri"/>
              </a:rPr>
              <a:t>classify</a:t>
            </a:r>
            <a:r>
              <a:rPr sz="2400" spc="-80" dirty="0">
                <a:solidFill>
                  <a:srgbClr val="404040"/>
                </a:solidFill>
                <a:latin typeface="Calibri"/>
                <a:cs typeface="Calibri"/>
              </a:rPr>
              <a:t> </a:t>
            </a:r>
            <a:r>
              <a:rPr sz="2400" spc="-10" dirty="0">
                <a:solidFill>
                  <a:srgbClr val="404040"/>
                </a:solidFill>
                <a:latin typeface="Calibri"/>
                <a:cs typeface="Calibri"/>
              </a:rPr>
              <a:t>shipment </a:t>
            </a:r>
            <a:r>
              <a:rPr sz="2400" dirty="0">
                <a:solidFill>
                  <a:srgbClr val="404040"/>
                </a:solidFill>
                <a:latin typeface="Calibri"/>
                <a:cs typeface="Calibri"/>
              </a:rPr>
              <a:t>risks,</a:t>
            </a:r>
            <a:r>
              <a:rPr sz="2400" spc="-110" dirty="0">
                <a:solidFill>
                  <a:srgbClr val="404040"/>
                </a:solidFill>
                <a:latin typeface="Calibri"/>
                <a:cs typeface="Calibri"/>
              </a:rPr>
              <a:t> </a:t>
            </a:r>
            <a:r>
              <a:rPr sz="2400" dirty="0">
                <a:solidFill>
                  <a:srgbClr val="404040"/>
                </a:solidFill>
                <a:latin typeface="Calibri"/>
                <a:cs typeface="Calibri"/>
              </a:rPr>
              <a:t>and</a:t>
            </a:r>
            <a:r>
              <a:rPr sz="2400" spc="-95" dirty="0">
                <a:solidFill>
                  <a:srgbClr val="404040"/>
                </a:solidFill>
                <a:latin typeface="Calibri"/>
                <a:cs typeface="Calibri"/>
              </a:rPr>
              <a:t> </a:t>
            </a:r>
            <a:r>
              <a:rPr sz="2400" spc="-20" dirty="0">
                <a:solidFill>
                  <a:srgbClr val="404040"/>
                </a:solidFill>
                <a:latin typeface="Calibri"/>
                <a:cs typeface="Calibri"/>
              </a:rPr>
              <a:t>generate</a:t>
            </a:r>
            <a:r>
              <a:rPr sz="2400" spc="-100" dirty="0">
                <a:solidFill>
                  <a:srgbClr val="404040"/>
                </a:solidFill>
                <a:latin typeface="Calibri"/>
                <a:cs typeface="Calibri"/>
              </a:rPr>
              <a:t> </a:t>
            </a:r>
            <a:r>
              <a:rPr sz="2400" dirty="0">
                <a:solidFill>
                  <a:srgbClr val="404040"/>
                </a:solidFill>
                <a:latin typeface="Calibri"/>
                <a:cs typeface="Calibri"/>
              </a:rPr>
              <a:t>business</a:t>
            </a:r>
            <a:r>
              <a:rPr sz="2400" spc="-100" dirty="0">
                <a:solidFill>
                  <a:srgbClr val="404040"/>
                </a:solidFill>
                <a:latin typeface="Calibri"/>
                <a:cs typeface="Calibri"/>
              </a:rPr>
              <a:t> </a:t>
            </a:r>
            <a:r>
              <a:rPr sz="2400" dirty="0">
                <a:solidFill>
                  <a:srgbClr val="404040"/>
                </a:solidFill>
                <a:latin typeface="Calibri"/>
                <a:cs typeface="Calibri"/>
              </a:rPr>
              <a:t>insights</a:t>
            </a:r>
            <a:r>
              <a:rPr sz="2400" spc="-105" dirty="0">
                <a:solidFill>
                  <a:srgbClr val="404040"/>
                </a:solidFill>
                <a:latin typeface="Calibri"/>
                <a:cs typeface="Calibri"/>
              </a:rPr>
              <a:t> </a:t>
            </a:r>
            <a:r>
              <a:rPr sz="2400" dirty="0">
                <a:solidFill>
                  <a:srgbClr val="404040"/>
                </a:solidFill>
                <a:latin typeface="Calibri"/>
                <a:cs typeface="Calibri"/>
              </a:rPr>
              <a:t>using</a:t>
            </a:r>
            <a:r>
              <a:rPr sz="2400" spc="-100" dirty="0">
                <a:solidFill>
                  <a:srgbClr val="404040"/>
                </a:solidFill>
                <a:latin typeface="Calibri"/>
                <a:cs typeface="Calibri"/>
              </a:rPr>
              <a:t> </a:t>
            </a:r>
            <a:r>
              <a:rPr sz="2400" dirty="0">
                <a:solidFill>
                  <a:srgbClr val="404040"/>
                </a:solidFill>
                <a:latin typeface="Calibri"/>
                <a:cs typeface="Calibri"/>
              </a:rPr>
              <a:t>data</a:t>
            </a:r>
            <a:r>
              <a:rPr sz="2400" spc="-100" dirty="0">
                <a:solidFill>
                  <a:srgbClr val="404040"/>
                </a:solidFill>
                <a:latin typeface="Calibri"/>
                <a:cs typeface="Calibri"/>
              </a:rPr>
              <a:t> </a:t>
            </a:r>
            <a:r>
              <a:rPr sz="2400" dirty="0">
                <a:solidFill>
                  <a:srgbClr val="404040"/>
                </a:solidFill>
                <a:latin typeface="Calibri"/>
                <a:cs typeface="Calibri"/>
              </a:rPr>
              <a:t>analytics</a:t>
            </a:r>
            <a:r>
              <a:rPr sz="2400" spc="-125" dirty="0">
                <a:solidFill>
                  <a:srgbClr val="404040"/>
                </a:solidFill>
                <a:latin typeface="Calibri"/>
                <a:cs typeface="Calibri"/>
              </a:rPr>
              <a:t> </a:t>
            </a:r>
            <a:r>
              <a:rPr sz="2400" dirty="0">
                <a:solidFill>
                  <a:srgbClr val="404040"/>
                </a:solidFill>
                <a:latin typeface="Calibri"/>
                <a:cs typeface="Calibri"/>
              </a:rPr>
              <a:t>and</a:t>
            </a:r>
            <a:r>
              <a:rPr sz="2400" spc="-95" dirty="0">
                <a:solidFill>
                  <a:srgbClr val="404040"/>
                </a:solidFill>
                <a:latin typeface="Calibri"/>
                <a:cs typeface="Calibri"/>
              </a:rPr>
              <a:t> </a:t>
            </a:r>
            <a:r>
              <a:rPr sz="2400" spc="-10" dirty="0">
                <a:solidFill>
                  <a:srgbClr val="404040"/>
                </a:solidFill>
                <a:latin typeface="Calibri"/>
                <a:cs typeface="Calibri"/>
              </a:rPr>
              <a:t>visualization techniques.</a:t>
            </a:r>
            <a:endParaRPr sz="24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44975" y="423850"/>
            <a:ext cx="5616575" cy="563880"/>
          </a:xfrm>
          <a:prstGeom prst="rect">
            <a:avLst/>
          </a:prstGeom>
        </p:spPr>
        <p:txBody>
          <a:bodyPr vert="horz" wrap="square" lIns="0" tIns="16510" rIns="0" bIns="0" rtlCol="0">
            <a:spAutoFit/>
          </a:bodyPr>
          <a:lstStyle/>
          <a:p>
            <a:pPr marL="12700">
              <a:lnSpc>
                <a:spcPct val="100000"/>
              </a:lnSpc>
              <a:spcBef>
                <a:spcPts val="130"/>
              </a:spcBef>
            </a:pPr>
            <a:r>
              <a:rPr sz="3500" spc="-75" dirty="0"/>
              <a:t>Problem</a:t>
            </a:r>
            <a:r>
              <a:rPr sz="3500" spc="-265" dirty="0"/>
              <a:t> </a:t>
            </a:r>
            <a:r>
              <a:rPr sz="3500" spc="-90" dirty="0"/>
              <a:t>Statement</a:t>
            </a:r>
            <a:r>
              <a:rPr sz="3500" spc="-204" dirty="0"/>
              <a:t> </a:t>
            </a:r>
            <a:r>
              <a:rPr sz="3500" dirty="0"/>
              <a:t>&amp;</a:t>
            </a:r>
            <a:r>
              <a:rPr sz="3500" spc="-105" dirty="0"/>
              <a:t> </a:t>
            </a:r>
            <a:r>
              <a:rPr sz="3500" spc="-10" dirty="0"/>
              <a:t>Objectives</a:t>
            </a:r>
            <a:endParaRPr sz="3500"/>
          </a:p>
        </p:txBody>
      </p:sp>
      <p:sp>
        <p:nvSpPr>
          <p:cNvPr id="3" name="object 3"/>
          <p:cNvSpPr txBox="1"/>
          <p:nvPr/>
        </p:nvSpPr>
        <p:spPr>
          <a:xfrm>
            <a:off x="817244" y="1255658"/>
            <a:ext cx="10460990" cy="4328160"/>
          </a:xfrm>
          <a:prstGeom prst="rect">
            <a:avLst/>
          </a:prstGeom>
        </p:spPr>
        <p:txBody>
          <a:bodyPr vert="horz" wrap="square" lIns="0" tIns="108585" rIns="0" bIns="0" rtlCol="0">
            <a:spAutoFit/>
          </a:bodyPr>
          <a:lstStyle/>
          <a:p>
            <a:pPr marL="303530" indent="-282575">
              <a:lnSpc>
                <a:spcPct val="100000"/>
              </a:lnSpc>
              <a:spcBef>
                <a:spcPts val="855"/>
              </a:spcBef>
              <a:buClr>
                <a:srgbClr val="E38312"/>
              </a:buClr>
              <a:buFont typeface="Wingdings"/>
              <a:buChar char=""/>
              <a:tabLst>
                <a:tab pos="303530" algn="l"/>
              </a:tabLst>
            </a:pPr>
            <a:r>
              <a:rPr sz="2000" b="1" dirty="0">
                <a:solidFill>
                  <a:srgbClr val="404040"/>
                </a:solidFill>
                <a:latin typeface="Calibri"/>
                <a:cs typeface="Calibri"/>
              </a:rPr>
              <a:t>Problem</a:t>
            </a:r>
            <a:r>
              <a:rPr sz="2000" b="1" spc="-70" dirty="0">
                <a:solidFill>
                  <a:srgbClr val="404040"/>
                </a:solidFill>
                <a:latin typeface="Calibri"/>
                <a:cs typeface="Calibri"/>
              </a:rPr>
              <a:t> </a:t>
            </a:r>
            <a:r>
              <a:rPr sz="2000" b="1" spc="-20" dirty="0">
                <a:solidFill>
                  <a:srgbClr val="404040"/>
                </a:solidFill>
                <a:latin typeface="Calibri"/>
                <a:cs typeface="Calibri"/>
              </a:rPr>
              <a:t>Statement</a:t>
            </a:r>
            <a:r>
              <a:rPr sz="2000" b="1" spc="-80" dirty="0">
                <a:solidFill>
                  <a:srgbClr val="404040"/>
                </a:solidFill>
                <a:latin typeface="Calibri"/>
                <a:cs typeface="Calibri"/>
              </a:rPr>
              <a:t> </a:t>
            </a:r>
            <a:r>
              <a:rPr sz="2000" b="1" spc="-50" dirty="0">
                <a:solidFill>
                  <a:srgbClr val="404040"/>
                </a:solidFill>
                <a:latin typeface="Calibri"/>
                <a:cs typeface="Calibri"/>
              </a:rPr>
              <a:t>:</a:t>
            </a:r>
            <a:endParaRPr sz="2000">
              <a:latin typeface="Calibri"/>
              <a:cs typeface="Calibri"/>
            </a:endParaRPr>
          </a:p>
          <a:p>
            <a:pPr marL="170815" indent="-158750">
              <a:lnSpc>
                <a:spcPct val="100000"/>
              </a:lnSpc>
              <a:spcBef>
                <a:spcPts val="985"/>
              </a:spcBef>
              <a:buClr>
                <a:srgbClr val="E38312"/>
              </a:buClr>
              <a:buSzPct val="96153"/>
              <a:buFont typeface="Wingdings"/>
              <a:buChar char=""/>
              <a:tabLst>
                <a:tab pos="170815" algn="l"/>
              </a:tabLst>
            </a:pPr>
            <a:r>
              <a:rPr sz="2600" dirty="0">
                <a:solidFill>
                  <a:srgbClr val="404040"/>
                </a:solidFill>
                <a:latin typeface="Calibri"/>
                <a:cs typeface="Calibri"/>
              </a:rPr>
              <a:t>Supply</a:t>
            </a:r>
            <a:r>
              <a:rPr sz="2600" spc="-95" dirty="0">
                <a:solidFill>
                  <a:srgbClr val="404040"/>
                </a:solidFill>
                <a:latin typeface="Calibri"/>
                <a:cs typeface="Calibri"/>
              </a:rPr>
              <a:t> </a:t>
            </a:r>
            <a:r>
              <a:rPr sz="2600" dirty="0">
                <a:solidFill>
                  <a:srgbClr val="404040"/>
                </a:solidFill>
                <a:latin typeface="Calibri"/>
                <a:cs typeface="Calibri"/>
              </a:rPr>
              <a:t>chain</a:t>
            </a:r>
            <a:r>
              <a:rPr sz="2600" spc="-85" dirty="0">
                <a:solidFill>
                  <a:srgbClr val="404040"/>
                </a:solidFill>
                <a:latin typeface="Calibri"/>
                <a:cs typeface="Calibri"/>
              </a:rPr>
              <a:t> </a:t>
            </a:r>
            <a:r>
              <a:rPr sz="2600" dirty="0">
                <a:solidFill>
                  <a:srgbClr val="404040"/>
                </a:solidFill>
                <a:latin typeface="Calibri"/>
                <a:cs typeface="Calibri"/>
              </a:rPr>
              <a:t>data</a:t>
            </a:r>
            <a:r>
              <a:rPr sz="2600" spc="-55" dirty="0">
                <a:solidFill>
                  <a:srgbClr val="404040"/>
                </a:solidFill>
                <a:latin typeface="Calibri"/>
                <a:cs typeface="Calibri"/>
              </a:rPr>
              <a:t> </a:t>
            </a:r>
            <a:r>
              <a:rPr sz="2600" dirty="0">
                <a:solidFill>
                  <a:srgbClr val="404040"/>
                </a:solidFill>
                <a:latin typeface="Calibri"/>
                <a:cs typeface="Calibri"/>
              </a:rPr>
              <a:t>is</a:t>
            </a:r>
            <a:r>
              <a:rPr sz="2600" spc="-85" dirty="0">
                <a:solidFill>
                  <a:srgbClr val="404040"/>
                </a:solidFill>
                <a:latin typeface="Calibri"/>
                <a:cs typeface="Calibri"/>
              </a:rPr>
              <a:t> </a:t>
            </a:r>
            <a:r>
              <a:rPr sz="2600" dirty="0">
                <a:solidFill>
                  <a:srgbClr val="404040"/>
                </a:solidFill>
                <a:latin typeface="Calibri"/>
                <a:cs typeface="Calibri"/>
              </a:rPr>
              <a:t>available</a:t>
            </a:r>
            <a:r>
              <a:rPr sz="2600" spc="-80" dirty="0">
                <a:solidFill>
                  <a:srgbClr val="404040"/>
                </a:solidFill>
                <a:latin typeface="Calibri"/>
                <a:cs typeface="Calibri"/>
              </a:rPr>
              <a:t> </a:t>
            </a:r>
            <a:r>
              <a:rPr sz="2600" dirty="0">
                <a:solidFill>
                  <a:srgbClr val="404040"/>
                </a:solidFill>
                <a:latin typeface="Calibri"/>
                <a:cs typeface="Calibri"/>
              </a:rPr>
              <a:t>in</a:t>
            </a:r>
            <a:r>
              <a:rPr sz="2600" spc="-80" dirty="0">
                <a:solidFill>
                  <a:srgbClr val="404040"/>
                </a:solidFill>
                <a:latin typeface="Calibri"/>
                <a:cs typeface="Calibri"/>
              </a:rPr>
              <a:t> </a:t>
            </a:r>
            <a:r>
              <a:rPr sz="2600" dirty="0">
                <a:solidFill>
                  <a:srgbClr val="404040"/>
                </a:solidFill>
                <a:latin typeface="Calibri"/>
                <a:cs typeface="Calibri"/>
              </a:rPr>
              <a:t>large</a:t>
            </a:r>
            <a:r>
              <a:rPr sz="2600" spc="-80" dirty="0">
                <a:solidFill>
                  <a:srgbClr val="404040"/>
                </a:solidFill>
                <a:latin typeface="Calibri"/>
                <a:cs typeface="Calibri"/>
              </a:rPr>
              <a:t> </a:t>
            </a:r>
            <a:r>
              <a:rPr sz="2600" spc="-10" dirty="0">
                <a:solidFill>
                  <a:srgbClr val="404040"/>
                </a:solidFill>
                <a:latin typeface="Calibri"/>
                <a:cs typeface="Calibri"/>
              </a:rPr>
              <a:t>amounts.</a:t>
            </a:r>
            <a:endParaRPr sz="2600">
              <a:latin typeface="Calibri"/>
              <a:cs typeface="Calibri"/>
            </a:endParaRPr>
          </a:p>
          <a:p>
            <a:pPr marL="170815" indent="-158750">
              <a:lnSpc>
                <a:spcPct val="100000"/>
              </a:lnSpc>
              <a:spcBef>
                <a:spcPts val="1175"/>
              </a:spcBef>
              <a:buClr>
                <a:srgbClr val="E38312"/>
              </a:buClr>
              <a:buSzPct val="96153"/>
              <a:buFont typeface="Wingdings"/>
              <a:buChar char=""/>
              <a:tabLst>
                <a:tab pos="170815" algn="l"/>
              </a:tabLst>
            </a:pPr>
            <a:r>
              <a:rPr sz="2600" dirty="0">
                <a:solidFill>
                  <a:srgbClr val="404040"/>
                </a:solidFill>
                <a:latin typeface="Calibri"/>
                <a:cs typeface="Calibri"/>
              </a:rPr>
              <a:t>It</a:t>
            </a:r>
            <a:r>
              <a:rPr sz="2600" spc="-50" dirty="0">
                <a:solidFill>
                  <a:srgbClr val="404040"/>
                </a:solidFill>
                <a:latin typeface="Calibri"/>
                <a:cs typeface="Calibri"/>
              </a:rPr>
              <a:t> </a:t>
            </a:r>
            <a:r>
              <a:rPr sz="2600" dirty="0">
                <a:solidFill>
                  <a:srgbClr val="404040"/>
                </a:solidFill>
                <a:latin typeface="Calibri"/>
                <a:cs typeface="Calibri"/>
              </a:rPr>
              <a:t>is</a:t>
            </a:r>
            <a:r>
              <a:rPr sz="2600" spc="-55" dirty="0">
                <a:solidFill>
                  <a:srgbClr val="404040"/>
                </a:solidFill>
                <a:latin typeface="Calibri"/>
                <a:cs typeface="Calibri"/>
              </a:rPr>
              <a:t> </a:t>
            </a:r>
            <a:r>
              <a:rPr sz="2600" dirty="0">
                <a:solidFill>
                  <a:srgbClr val="404040"/>
                </a:solidFill>
                <a:latin typeface="Calibri"/>
                <a:cs typeface="Calibri"/>
              </a:rPr>
              <a:t>difficult</a:t>
            </a:r>
            <a:r>
              <a:rPr sz="2600" spc="-55" dirty="0">
                <a:solidFill>
                  <a:srgbClr val="404040"/>
                </a:solidFill>
                <a:latin typeface="Calibri"/>
                <a:cs typeface="Calibri"/>
              </a:rPr>
              <a:t> </a:t>
            </a:r>
            <a:r>
              <a:rPr sz="2600" dirty="0">
                <a:solidFill>
                  <a:srgbClr val="404040"/>
                </a:solidFill>
                <a:latin typeface="Calibri"/>
                <a:cs typeface="Calibri"/>
              </a:rPr>
              <a:t>to</a:t>
            </a:r>
            <a:r>
              <a:rPr sz="2600" spc="-50" dirty="0">
                <a:solidFill>
                  <a:srgbClr val="404040"/>
                </a:solidFill>
                <a:latin typeface="Calibri"/>
                <a:cs typeface="Calibri"/>
              </a:rPr>
              <a:t> </a:t>
            </a:r>
            <a:r>
              <a:rPr sz="2600" dirty="0">
                <a:solidFill>
                  <a:srgbClr val="404040"/>
                </a:solidFill>
                <a:latin typeface="Calibri"/>
                <a:cs typeface="Calibri"/>
              </a:rPr>
              <a:t>identify</a:t>
            </a:r>
            <a:r>
              <a:rPr sz="2600" spc="-75" dirty="0">
                <a:solidFill>
                  <a:srgbClr val="404040"/>
                </a:solidFill>
                <a:latin typeface="Calibri"/>
                <a:cs typeface="Calibri"/>
              </a:rPr>
              <a:t> </a:t>
            </a:r>
            <a:r>
              <a:rPr sz="2600" dirty="0">
                <a:solidFill>
                  <a:srgbClr val="404040"/>
                </a:solidFill>
                <a:latin typeface="Calibri"/>
                <a:cs typeface="Calibri"/>
              </a:rPr>
              <a:t>supply</a:t>
            </a:r>
            <a:r>
              <a:rPr sz="2600" spc="-65" dirty="0">
                <a:solidFill>
                  <a:srgbClr val="404040"/>
                </a:solidFill>
                <a:latin typeface="Calibri"/>
                <a:cs typeface="Calibri"/>
              </a:rPr>
              <a:t> </a:t>
            </a:r>
            <a:r>
              <a:rPr sz="2600" dirty="0">
                <a:solidFill>
                  <a:srgbClr val="404040"/>
                </a:solidFill>
                <a:latin typeface="Calibri"/>
                <a:cs typeface="Calibri"/>
              </a:rPr>
              <a:t>chain</a:t>
            </a:r>
            <a:r>
              <a:rPr sz="2600" spc="-60" dirty="0">
                <a:solidFill>
                  <a:srgbClr val="404040"/>
                </a:solidFill>
                <a:latin typeface="Calibri"/>
                <a:cs typeface="Calibri"/>
              </a:rPr>
              <a:t> </a:t>
            </a:r>
            <a:r>
              <a:rPr sz="2600" dirty="0">
                <a:solidFill>
                  <a:srgbClr val="404040"/>
                </a:solidFill>
                <a:latin typeface="Calibri"/>
                <a:cs typeface="Calibri"/>
              </a:rPr>
              <a:t>risks</a:t>
            </a:r>
            <a:r>
              <a:rPr sz="2600" spc="-55" dirty="0">
                <a:solidFill>
                  <a:srgbClr val="404040"/>
                </a:solidFill>
                <a:latin typeface="Calibri"/>
                <a:cs typeface="Calibri"/>
              </a:rPr>
              <a:t> </a:t>
            </a:r>
            <a:r>
              <a:rPr sz="2600" dirty="0">
                <a:solidFill>
                  <a:srgbClr val="404040"/>
                </a:solidFill>
                <a:latin typeface="Calibri"/>
                <a:cs typeface="Calibri"/>
              </a:rPr>
              <a:t>in</a:t>
            </a:r>
            <a:r>
              <a:rPr sz="2600" spc="-55" dirty="0">
                <a:solidFill>
                  <a:srgbClr val="404040"/>
                </a:solidFill>
                <a:latin typeface="Calibri"/>
                <a:cs typeface="Calibri"/>
              </a:rPr>
              <a:t> </a:t>
            </a:r>
            <a:r>
              <a:rPr sz="2600" dirty="0">
                <a:solidFill>
                  <a:srgbClr val="404040"/>
                </a:solidFill>
                <a:latin typeface="Calibri"/>
                <a:cs typeface="Calibri"/>
              </a:rPr>
              <a:t>the</a:t>
            </a:r>
            <a:r>
              <a:rPr sz="2600" spc="-45" dirty="0">
                <a:solidFill>
                  <a:srgbClr val="404040"/>
                </a:solidFill>
                <a:latin typeface="Calibri"/>
                <a:cs typeface="Calibri"/>
              </a:rPr>
              <a:t> </a:t>
            </a:r>
            <a:r>
              <a:rPr sz="2600" spc="-10" dirty="0">
                <a:solidFill>
                  <a:srgbClr val="404040"/>
                </a:solidFill>
                <a:latin typeface="Calibri"/>
                <a:cs typeface="Calibri"/>
              </a:rPr>
              <a:t>data.</a:t>
            </a:r>
            <a:endParaRPr sz="2600">
              <a:latin typeface="Calibri"/>
              <a:cs typeface="Calibri"/>
            </a:endParaRPr>
          </a:p>
          <a:p>
            <a:pPr marL="170815" indent="-158750">
              <a:lnSpc>
                <a:spcPct val="100000"/>
              </a:lnSpc>
              <a:spcBef>
                <a:spcPts val="1080"/>
              </a:spcBef>
              <a:buClr>
                <a:srgbClr val="E38312"/>
              </a:buClr>
              <a:buSzPct val="96153"/>
              <a:buFont typeface="Wingdings"/>
              <a:buChar char=""/>
              <a:tabLst>
                <a:tab pos="170815" algn="l"/>
              </a:tabLst>
            </a:pPr>
            <a:r>
              <a:rPr sz="2600" dirty="0">
                <a:solidFill>
                  <a:srgbClr val="404040"/>
                </a:solidFill>
                <a:latin typeface="Calibri"/>
                <a:cs typeface="Calibri"/>
              </a:rPr>
              <a:t>Delivery</a:t>
            </a:r>
            <a:r>
              <a:rPr sz="2600" spc="-125" dirty="0">
                <a:solidFill>
                  <a:srgbClr val="404040"/>
                </a:solidFill>
                <a:latin typeface="Calibri"/>
                <a:cs typeface="Calibri"/>
              </a:rPr>
              <a:t> </a:t>
            </a:r>
            <a:r>
              <a:rPr sz="2600" spc="-10" dirty="0">
                <a:solidFill>
                  <a:srgbClr val="404040"/>
                </a:solidFill>
                <a:latin typeface="Calibri"/>
                <a:cs typeface="Calibri"/>
              </a:rPr>
              <a:t>performance</a:t>
            </a:r>
            <a:r>
              <a:rPr sz="2600" spc="-90" dirty="0">
                <a:solidFill>
                  <a:srgbClr val="404040"/>
                </a:solidFill>
                <a:latin typeface="Calibri"/>
                <a:cs typeface="Calibri"/>
              </a:rPr>
              <a:t> </a:t>
            </a:r>
            <a:r>
              <a:rPr sz="2600" dirty="0">
                <a:solidFill>
                  <a:srgbClr val="404040"/>
                </a:solidFill>
                <a:latin typeface="Calibri"/>
                <a:cs typeface="Calibri"/>
              </a:rPr>
              <a:t>problems,</a:t>
            </a:r>
            <a:r>
              <a:rPr sz="2600" spc="-85" dirty="0">
                <a:solidFill>
                  <a:srgbClr val="404040"/>
                </a:solidFill>
                <a:latin typeface="Calibri"/>
                <a:cs typeface="Calibri"/>
              </a:rPr>
              <a:t> </a:t>
            </a:r>
            <a:r>
              <a:rPr sz="2600" dirty="0">
                <a:solidFill>
                  <a:srgbClr val="404040"/>
                </a:solidFill>
                <a:latin typeface="Calibri"/>
                <a:cs typeface="Calibri"/>
              </a:rPr>
              <a:t>especially</a:t>
            </a:r>
            <a:r>
              <a:rPr sz="2600" spc="-100" dirty="0">
                <a:solidFill>
                  <a:srgbClr val="404040"/>
                </a:solidFill>
                <a:latin typeface="Calibri"/>
                <a:cs typeface="Calibri"/>
              </a:rPr>
              <a:t> </a:t>
            </a:r>
            <a:r>
              <a:rPr sz="2600" dirty="0">
                <a:solidFill>
                  <a:srgbClr val="404040"/>
                </a:solidFill>
                <a:latin typeface="Calibri"/>
                <a:cs typeface="Calibri"/>
              </a:rPr>
              <a:t>late</a:t>
            </a:r>
            <a:r>
              <a:rPr sz="2600" spc="-90" dirty="0">
                <a:solidFill>
                  <a:srgbClr val="404040"/>
                </a:solidFill>
                <a:latin typeface="Calibri"/>
                <a:cs typeface="Calibri"/>
              </a:rPr>
              <a:t> </a:t>
            </a:r>
            <a:r>
              <a:rPr sz="2600" spc="-25" dirty="0">
                <a:solidFill>
                  <a:srgbClr val="404040"/>
                </a:solidFill>
                <a:latin typeface="Calibri"/>
                <a:cs typeface="Calibri"/>
              </a:rPr>
              <a:t>delivery,</a:t>
            </a:r>
            <a:r>
              <a:rPr sz="2600" spc="-110" dirty="0">
                <a:solidFill>
                  <a:srgbClr val="404040"/>
                </a:solidFill>
                <a:latin typeface="Calibri"/>
                <a:cs typeface="Calibri"/>
              </a:rPr>
              <a:t> </a:t>
            </a:r>
            <a:r>
              <a:rPr sz="2600" dirty="0">
                <a:solidFill>
                  <a:srgbClr val="404040"/>
                </a:solidFill>
                <a:latin typeface="Calibri"/>
                <a:cs typeface="Calibri"/>
              </a:rPr>
              <a:t>need</a:t>
            </a:r>
            <a:r>
              <a:rPr sz="2600" spc="-95" dirty="0">
                <a:solidFill>
                  <a:srgbClr val="404040"/>
                </a:solidFill>
                <a:latin typeface="Calibri"/>
                <a:cs typeface="Calibri"/>
              </a:rPr>
              <a:t> </a:t>
            </a:r>
            <a:r>
              <a:rPr sz="2600" dirty="0">
                <a:solidFill>
                  <a:srgbClr val="404040"/>
                </a:solidFill>
                <a:latin typeface="Calibri"/>
                <a:cs typeface="Calibri"/>
              </a:rPr>
              <a:t>to</a:t>
            </a:r>
            <a:r>
              <a:rPr sz="2600" spc="-70" dirty="0">
                <a:solidFill>
                  <a:srgbClr val="404040"/>
                </a:solidFill>
                <a:latin typeface="Calibri"/>
                <a:cs typeface="Calibri"/>
              </a:rPr>
              <a:t> </a:t>
            </a:r>
            <a:r>
              <a:rPr sz="2600" dirty="0">
                <a:solidFill>
                  <a:srgbClr val="404040"/>
                </a:solidFill>
                <a:latin typeface="Calibri"/>
                <a:cs typeface="Calibri"/>
              </a:rPr>
              <a:t>be</a:t>
            </a:r>
            <a:r>
              <a:rPr sz="2600" spc="-145" dirty="0">
                <a:solidFill>
                  <a:srgbClr val="404040"/>
                </a:solidFill>
                <a:latin typeface="Calibri"/>
                <a:cs typeface="Calibri"/>
              </a:rPr>
              <a:t> </a:t>
            </a:r>
            <a:r>
              <a:rPr sz="2600" spc="-10" dirty="0">
                <a:solidFill>
                  <a:srgbClr val="404040"/>
                </a:solidFill>
                <a:latin typeface="Calibri"/>
                <a:cs typeface="Calibri"/>
              </a:rPr>
              <a:t>analyzed.</a:t>
            </a:r>
            <a:endParaRPr sz="2600">
              <a:latin typeface="Calibri"/>
              <a:cs typeface="Calibri"/>
            </a:endParaRPr>
          </a:p>
          <a:p>
            <a:pPr marL="112395" marR="352425" indent="-100330">
              <a:lnSpc>
                <a:spcPts val="2810"/>
              </a:lnSpc>
              <a:spcBef>
                <a:spcPts val="1430"/>
              </a:spcBef>
              <a:buClr>
                <a:srgbClr val="E38312"/>
              </a:buClr>
              <a:buSzPct val="96153"/>
              <a:buFont typeface="Wingdings"/>
              <a:buChar char=""/>
              <a:tabLst>
                <a:tab pos="112395" algn="l"/>
                <a:tab pos="170815" algn="l"/>
              </a:tabLst>
            </a:pPr>
            <a:r>
              <a:rPr sz="2600" dirty="0">
                <a:solidFill>
                  <a:srgbClr val="404040"/>
                </a:solidFill>
                <a:latin typeface="Calibri"/>
                <a:cs typeface="Calibri"/>
              </a:rPr>
              <a:t>	Business</a:t>
            </a:r>
            <a:r>
              <a:rPr sz="2600" spc="-114" dirty="0">
                <a:solidFill>
                  <a:srgbClr val="404040"/>
                </a:solidFill>
                <a:latin typeface="Calibri"/>
                <a:cs typeface="Calibri"/>
              </a:rPr>
              <a:t> </a:t>
            </a:r>
            <a:r>
              <a:rPr sz="2600" dirty="0">
                <a:solidFill>
                  <a:srgbClr val="404040"/>
                </a:solidFill>
                <a:latin typeface="Calibri"/>
                <a:cs typeface="Calibri"/>
              </a:rPr>
              <a:t>sales</a:t>
            </a:r>
            <a:r>
              <a:rPr sz="2600" spc="-85" dirty="0">
                <a:solidFill>
                  <a:srgbClr val="404040"/>
                </a:solidFill>
                <a:latin typeface="Calibri"/>
                <a:cs typeface="Calibri"/>
              </a:rPr>
              <a:t> </a:t>
            </a:r>
            <a:r>
              <a:rPr sz="2600" dirty="0">
                <a:solidFill>
                  <a:srgbClr val="404040"/>
                </a:solidFill>
                <a:latin typeface="Calibri"/>
                <a:cs typeface="Calibri"/>
              </a:rPr>
              <a:t>and</a:t>
            </a:r>
            <a:r>
              <a:rPr sz="2600" spc="-60" dirty="0">
                <a:solidFill>
                  <a:srgbClr val="404040"/>
                </a:solidFill>
                <a:latin typeface="Calibri"/>
                <a:cs typeface="Calibri"/>
              </a:rPr>
              <a:t> </a:t>
            </a:r>
            <a:r>
              <a:rPr sz="2600" dirty="0">
                <a:solidFill>
                  <a:srgbClr val="404040"/>
                </a:solidFill>
                <a:latin typeface="Calibri"/>
                <a:cs typeface="Calibri"/>
              </a:rPr>
              <a:t>profit</a:t>
            </a:r>
            <a:r>
              <a:rPr sz="2600" spc="-70" dirty="0">
                <a:solidFill>
                  <a:srgbClr val="404040"/>
                </a:solidFill>
                <a:latin typeface="Calibri"/>
                <a:cs typeface="Calibri"/>
              </a:rPr>
              <a:t> </a:t>
            </a:r>
            <a:r>
              <a:rPr sz="2600" dirty="0">
                <a:solidFill>
                  <a:srgbClr val="404040"/>
                </a:solidFill>
                <a:latin typeface="Calibri"/>
                <a:cs typeface="Calibri"/>
              </a:rPr>
              <a:t>performance</a:t>
            </a:r>
            <a:r>
              <a:rPr sz="2600" spc="-90" dirty="0">
                <a:solidFill>
                  <a:srgbClr val="404040"/>
                </a:solidFill>
                <a:latin typeface="Calibri"/>
                <a:cs typeface="Calibri"/>
              </a:rPr>
              <a:t> </a:t>
            </a:r>
            <a:r>
              <a:rPr sz="2600" dirty="0">
                <a:solidFill>
                  <a:srgbClr val="404040"/>
                </a:solidFill>
                <a:latin typeface="Calibri"/>
                <a:cs typeface="Calibri"/>
              </a:rPr>
              <a:t>are</a:t>
            </a:r>
            <a:r>
              <a:rPr sz="2600" spc="-85" dirty="0">
                <a:solidFill>
                  <a:srgbClr val="404040"/>
                </a:solidFill>
                <a:latin typeface="Calibri"/>
                <a:cs typeface="Calibri"/>
              </a:rPr>
              <a:t> </a:t>
            </a:r>
            <a:r>
              <a:rPr sz="2600" dirty="0">
                <a:solidFill>
                  <a:srgbClr val="404040"/>
                </a:solidFill>
                <a:latin typeface="Calibri"/>
                <a:cs typeface="Calibri"/>
              </a:rPr>
              <a:t>difficult</a:t>
            </a:r>
            <a:r>
              <a:rPr sz="2600" spc="-75" dirty="0">
                <a:solidFill>
                  <a:srgbClr val="404040"/>
                </a:solidFill>
                <a:latin typeface="Calibri"/>
                <a:cs typeface="Calibri"/>
              </a:rPr>
              <a:t> </a:t>
            </a:r>
            <a:r>
              <a:rPr sz="2600" dirty="0">
                <a:solidFill>
                  <a:srgbClr val="404040"/>
                </a:solidFill>
                <a:latin typeface="Calibri"/>
                <a:cs typeface="Calibri"/>
              </a:rPr>
              <a:t>to</a:t>
            </a:r>
            <a:r>
              <a:rPr sz="2600" spc="-55" dirty="0">
                <a:solidFill>
                  <a:srgbClr val="404040"/>
                </a:solidFill>
                <a:latin typeface="Calibri"/>
                <a:cs typeface="Calibri"/>
              </a:rPr>
              <a:t> </a:t>
            </a:r>
            <a:r>
              <a:rPr sz="2600" spc="-20" dirty="0">
                <a:solidFill>
                  <a:srgbClr val="404040"/>
                </a:solidFill>
                <a:latin typeface="Calibri"/>
                <a:cs typeface="Calibri"/>
              </a:rPr>
              <a:t>understand</a:t>
            </a:r>
            <a:r>
              <a:rPr sz="2600" spc="-125" dirty="0">
                <a:solidFill>
                  <a:srgbClr val="404040"/>
                </a:solidFill>
                <a:latin typeface="Calibri"/>
                <a:cs typeface="Calibri"/>
              </a:rPr>
              <a:t> </a:t>
            </a:r>
            <a:r>
              <a:rPr sz="2600" dirty="0">
                <a:solidFill>
                  <a:srgbClr val="404040"/>
                </a:solidFill>
                <a:latin typeface="Calibri"/>
                <a:cs typeface="Calibri"/>
              </a:rPr>
              <a:t>from</a:t>
            </a:r>
            <a:r>
              <a:rPr sz="2600" spc="-65" dirty="0">
                <a:solidFill>
                  <a:srgbClr val="404040"/>
                </a:solidFill>
                <a:latin typeface="Calibri"/>
                <a:cs typeface="Calibri"/>
              </a:rPr>
              <a:t> </a:t>
            </a:r>
            <a:r>
              <a:rPr sz="2600" spc="-25" dirty="0">
                <a:solidFill>
                  <a:srgbClr val="404040"/>
                </a:solidFill>
                <a:latin typeface="Calibri"/>
                <a:cs typeface="Calibri"/>
              </a:rPr>
              <a:t>raw </a:t>
            </a:r>
            <a:r>
              <a:rPr sz="2600" spc="-10" dirty="0">
                <a:solidFill>
                  <a:srgbClr val="404040"/>
                </a:solidFill>
                <a:latin typeface="Calibri"/>
                <a:cs typeface="Calibri"/>
              </a:rPr>
              <a:t>data.</a:t>
            </a:r>
            <a:endParaRPr sz="2600">
              <a:latin typeface="Calibri"/>
              <a:cs typeface="Calibri"/>
            </a:endParaRPr>
          </a:p>
          <a:p>
            <a:pPr marL="170815" indent="-158750">
              <a:lnSpc>
                <a:spcPct val="100000"/>
              </a:lnSpc>
              <a:spcBef>
                <a:spcPts val="940"/>
              </a:spcBef>
              <a:buClr>
                <a:srgbClr val="E38312"/>
              </a:buClr>
              <a:buSzPct val="96153"/>
              <a:buFont typeface="Wingdings"/>
              <a:buChar char=""/>
              <a:tabLst>
                <a:tab pos="170815" algn="l"/>
              </a:tabLst>
            </a:pPr>
            <a:r>
              <a:rPr sz="2600" dirty="0">
                <a:solidFill>
                  <a:srgbClr val="404040"/>
                </a:solidFill>
                <a:latin typeface="Calibri"/>
                <a:cs typeface="Calibri"/>
              </a:rPr>
              <a:t>Customer</a:t>
            </a:r>
            <a:r>
              <a:rPr sz="2600" spc="-90" dirty="0">
                <a:solidFill>
                  <a:srgbClr val="404040"/>
                </a:solidFill>
                <a:latin typeface="Calibri"/>
                <a:cs typeface="Calibri"/>
              </a:rPr>
              <a:t> </a:t>
            </a:r>
            <a:r>
              <a:rPr sz="2600" dirty="0">
                <a:solidFill>
                  <a:srgbClr val="404040"/>
                </a:solidFill>
                <a:latin typeface="Calibri"/>
                <a:cs typeface="Calibri"/>
              </a:rPr>
              <a:t>purchasing</a:t>
            </a:r>
            <a:r>
              <a:rPr sz="2600" spc="-114" dirty="0">
                <a:solidFill>
                  <a:srgbClr val="404040"/>
                </a:solidFill>
                <a:latin typeface="Calibri"/>
                <a:cs typeface="Calibri"/>
              </a:rPr>
              <a:t> </a:t>
            </a:r>
            <a:r>
              <a:rPr sz="2600" dirty="0">
                <a:solidFill>
                  <a:srgbClr val="404040"/>
                </a:solidFill>
                <a:latin typeface="Calibri"/>
                <a:cs typeface="Calibri"/>
              </a:rPr>
              <a:t>and</a:t>
            </a:r>
            <a:r>
              <a:rPr sz="2600" spc="-85" dirty="0">
                <a:solidFill>
                  <a:srgbClr val="404040"/>
                </a:solidFill>
                <a:latin typeface="Calibri"/>
                <a:cs typeface="Calibri"/>
              </a:rPr>
              <a:t> </a:t>
            </a:r>
            <a:r>
              <a:rPr sz="2600" spc="-45" dirty="0">
                <a:solidFill>
                  <a:srgbClr val="404040"/>
                </a:solidFill>
                <a:latin typeface="Calibri"/>
                <a:cs typeface="Calibri"/>
              </a:rPr>
              <a:t>repeat-</a:t>
            </a:r>
            <a:r>
              <a:rPr sz="2600" dirty="0">
                <a:solidFill>
                  <a:srgbClr val="404040"/>
                </a:solidFill>
                <a:latin typeface="Calibri"/>
                <a:cs typeface="Calibri"/>
              </a:rPr>
              <a:t>order</a:t>
            </a:r>
            <a:r>
              <a:rPr sz="2600" spc="-70" dirty="0">
                <a:solidFill>
                  <a:srgbClr val="404040"/>
                </a:solidFill>
                <a:latin typeface="Calibri"/>
                <a:cs typeface="Calibri"/>
              </a:rPr>
              <a:t> </a:t>
            </a:r>
            <a:r>
              <a:rPr sz="2600" dirty="0">
                <a:solidFill>
                  <a:srgbClr val="404040"/>
                </a:solidFill>
                <a:latin typeface="Calibri"/>
                <a:cs typeface="Calibri"/>
              </a:rPr>
              <a:t>behavior</a:t>
            </a:r>
            <a:r>
              <a:rPr sz="2600" spc="-90" dirty="0">
                <a:solidFill>
                  <a:srgbClr val="404040"/>
                </a:solidFill>
                <a:latin typeface="Calibri"/>
                <a:cs typeface="Calibri"/>
              </a:rPr>
              <a:t> </a:t>
            </a:r>
            <a:r>
              <a:rPr sz="2600" dirty="0">
                <a:solidFill>
                  <a:srgbClr val="404040"/>
                </a:solidFill>
                <a:latin typeface="Calibri"/>
                <a:cs typeface="Calibri"/>
              </a:rPr>
              <a:t>are</a:t>
            </a:r>
            <a:r>
              <a:rPr sz="2600" spc="-85" dirty="0">
                <a:solidFill>
                  <a:srgbClr val="404040"/>
                </a:solidFill>
                <a:latin typeface="Calibri"/>
                <a:cs typeface="Calibri"/>
              </a:rPr>
              <a:t> </a:t>
            </a:r>
            <a:r>
              <a:rPr sz="2600" dirty="0">
                <a:solidFill>
                  <a:srgbClr val="404040"/>
                </a:solidFill>
                <a:latin typeface="Calibri"/>
                <a:cs typeface="Calibri"/>
              </a:rPr>
              <a:t>not</a:t>
            </a:r>
            <a:r>
              <a:rPr sz="2600" spc="-70" dirty="0">
                <a:solidFill>
                  <a:srgbClr val="404040"/>
                </a:solidFill>
                <a:latin typeface="Calibri"/>
                <a:cs typeface="Calibri"/>
              </a:rPr>
              <a:t> </a:t>
            </a:r>
            <a:r>
              <a:rPr sz="2600" dirty="0">
                <a:solidFill>
                  <a:srgbClr val="404040"/>
                </a:solidFill>
                <a:latin typeface="Calibri"/>
                <a:cs typeface="Calibri"/>
              </a:rPr>
              <a:t>clearly</a:t>
            </a:r>
            <a:r>
              <a:rPr sz="2600" spc="-85" dirty="0">
                <a:solidFill>
                  <a:srgbClr val="404040"/>
                </a:solidFill>
                <a:latin typeface="Calibri"/>
                <a:cs typeface="Calibri"/>
              </a:rPr>
              <a:t> </a:t>
            </a:r>
            <a:r>
              <a:rPr sz="2600" spc="-10" dirty="0">
                <a:solidFill>
                  <a:srgbClr val="404040"/>
                </a:solidFill>
                <a:latin typeface="Calibri"/>
                <a:cs typeface="Calibri"/>
              </a:rPr>
              <a:t>visible.</a:t>
            </a:r>
            <a:endParaRPr sz="2600">
              <a:latin typeface="Calibri"/>
              <a:cs typeface="Calibri"/>
            </a:endParaRPr>
          </a:p>
          <a:p>
            <a:pPr marL="112395" marR="1146175" indent="-91440">
              <a:lnSpc>
                <a:spcPts val="2810"/>
              </a:lnSpc>
              <a:spcBef>
                <a:spcPts val="1435"/>
              </a:spcBef>
              <a:buClr>
                <a:srgbClr val="E38312"/>
              </a:buClr>
              <a:buSzPct val="96153"/>
              <a:buFont typeface="Wingdings"/>
              <a:buChar char=""/>
              <a:tabLst>
                <a:tab pos="112395" algn="l"/>
                <a:tab pos="245110" algn="l"/>
              </a:tabLst>
            </a:pPr>
            <a:r>
              <a:rPr sz="2600" dirty="0">
                <a:solidFill>
                  <a:srgbClr val="404040"/>
                </a:solidFill>
                <a:latin typeface="Calibri"/>
                <a:cs typeface="Calibri"/>
              </a:rPr>
              <a:t>	A</a:t>
            </a:r>
            <a:r>
              <a:rPr sz="2600" spc="-60" dirty="0">
                <a:solidFill>
                  <a:srgbClr val="404040"/>
                </a:solidFill>
                <a:latin typeface="Calibri"/>
                <a:cs typeface="Calibri"/>
              </a:rPr>
              <a:t> </a:t>
            </a:r>
            <a:r>
              <a:rPr sz="2600" spc="-50" dirty="0">
                <a:solidFill>
                  <a:srgbClr val="404040"/>
                </a:solidFill>
                <a:latin typeface="Calibri"/>
                <a:cs typeface="Calibri"/>
              </a:rPr>
              <a:t>data-</a:t>
            </a:r>
            <a:r>
              <a:rPr sz="2600" dirty="0">
                <a:solidFill>
                  <a:srgbClr val="404040"/>
                </a:solidFill>
                <a:latin typeface="Calibri"/>
                <a:cs typeface="Calibri"/>
              </a:rPr>
              <a:t>driven</a:t>
            </a:r>
            <a:r>
              <a:rPr sz="2600" spc="-85" dirty="0">
                <a:solidFill>
                  <a:srgbClr val="404040"/>
                </a:solidFill>
                <a:latin typeface="Calibri"/>
                <a:cs typeface="Calibri"/>
              </a:rPr>
              <a:t> </a:t>
            </a:r>
            <a:r>
              <a:rPr sz="2600" dirty="0">
                <a:solidFill>
                  <a:srgbClr val="404040"/>
                </a:solidFill>
                <a:latin typeface="Calibri"/>
                <a:cs typeface="Calibri"/>
              </a:rPr>
              <a:t>dashboard</a:t>
            </a:r>
            <a:r>
              <a:rPr sz="2600" spc="-90" dirty="0">
                <a:solidFill>
                  <a:srgbClr val="404040"/>
                </a:solidFill>
                <a:latin typeface="Calibri"/>
                <a:cs typeface="Calibri"/>
              </a:rPr>
              <a:t> </a:t>
            </a:r>
            <a:r>
              <a:rPr sz="2600" dirty="0">
                <a:solidFill>
                  <a:srgbClr val="404040"/>
                </a:solidFill>
                <a:latin typeface="Calibri"/>
                <a:cs typeface="Calibri"/>
              </a:rPr>
              <a:t>is</a:t>
            </a:r>
            <a:r>
              <a:rPr sz="2600" spc="-65" dirty="0">
                <a:solidFill>
                  <a:srgbClr val="404040"/>
                </a:solidFill>
                <a:latin typeface="Calibri"/>
                <a:cs typeface="Calibri"/>
              </a:rPr>
              <a:t> </a:t>
            </a:r>
            <a:r>
              <a:rPr sz="2600" dirty="0">
                <a:solidFill>
                  <a:srgbClr val="404040"/>
                </a:solidFill>
                <a:latin typeface="Calibri"/>
                <a:cs typeface="Calibri"/>
              </a:rPr>
              <a:t>needed</a:t>
            </a:r>
            <a:r>
              <a:rPr sz="2600" spc="-110" dirty="0">
                <a:solidFill>
                  <a:srgbClr val="404040"/>
                </a:solidFill>
                <a:latin typeface="Calibri"/>
                <a:cs typeface="Calibri"/>
              </a:rPr>
              <a:t> </a:t>
            </a:r>
            <a:r>
              <a:rPr sz="2600" dirty="0">
                <a:solidFill>
                  <a:srgbClr val="404040"/>
                </a:solidFill>
                <a:latin typeface="Calibri"/>
                <a:cs typeface="Calibri"/>
              </a:rPr>
              <a:t>to</a:t>
            </a:r>
            <a:r>
              <a:rPr sz="2600" spc="-55" dirty="0">
                <a:solidFill>
                  <a:srgbClr val="404040"/>
                </a:solidFill>
                <a:latin typeface="Calibri"/>
                <a:cs typeface="Calibri"/>
              </a:rPr>
              <a:t> </a:t>
            </a:r>
            <a:r>
              <a:rPr sz="2600" dirty="0">
                <a:solidFill>
                  <a:srgbClr val="404040"/>
                </a:solidFill>
                <a:latin typeface="Calibri"/>
                <a:cs typeface="Calibri"/>
              </a:rPr>
              <a:t>identify</a:t>
            </a:r>
            <a:r>
              <a:rPr sz="2600" spc="-95" dirty="0">
                <a:solidFill>
                  <a:srgbClr val="404040"/>
                </a:solidFill>
                <a:latin typeface="Calibri"/>
                <a:cs typeface="Calibri"/>
              </a:rPr>
              <a:t> </a:t>
            </a:r>
            <a:r>
              <a:rPr sz="2600" dirty="0">
                <a:solidFill>
                  <a:srgbClr val="404040"/>
                </a:solidFill>
                <a:latin typeface="Calibri"/>
                <a:cs typeface="Calibri"/>
              </a:rPr>
              <a:t>supply</a:t>
            </a:r>
            <a:r>
              <a:rPr sz="2600" spc="-85" dirty="0">
                <a:solidFill>
                  <a:srgbClr val="404040"/>
                </a:solidFill>
                <a:latin typeface="Calibri"/>
                <a:cs typeface="Calibri"/>
              </a:rPr>
              <a:t> </a:t>
            </a:r>
            <a:r>
              <a:rPr sz="2600" dirty="0">
                <a:solidFill>
                  <a:srgbClr val="404040"/>
                </a:solidFill>
                <a:latin typeface="Calibri"/>
                <a:cs typeface="Calibri"/>
              </a:rPr>
              <a:t>chain</a:t>
            </a:r>
            <a:r>
              <a:rPr sz="2600" spc="-75" dirty="0">
                <a:solidFill>
                  <a:srgbClr val="404040"/>
                </a:solidFill>
                <a:latin typeface="Calibri"/>
                <a:cs typeface="Calibri"/>
              </a:rPr>
              <a:t> </a:t>
            </a:r>
            <a:r>
              <a:rPr sz="2600" dirty="0">
                <a:solidFill>
                  <a:srgbClr val="404040"/>
                </a:solidFill>
                <a:latin typeface="Calibri"/>
                <a:cs typeface="Calibri"/>
              </a:rPr>
              <a:t>risks</a:t>
            </a:r>
            <a:r>
              <a:rPr sz="2600" spc="-70" dirty="0">
                <a:solidFill>
                  <a:srgbClr val="404040"/>
                </a:solidFill>
                <a:latin typeface="Calibri"/>
                <a:cs typeface="Calibri"/>
              </a:rPr>
              <a:t> </a:t>
            </a:r>
            <a:r>
              <a:rPr sz="2600" spc="-25" dirty="0">
                <a:solidFill>
                  <a:srgbClr val="404040"/>
                </a:solidFill>
                <a:latin typeface="Calibri"/>
                <a:cs typeface="Calibri"/>
              </a:rPr>
              <a:t>and </a:t>
            </a:r>
            <a:r>
              <a:rPr sz="2600" spc="-10" dirty="0">
                <a:solidFill>
                  <a:srgbClr val="404040"/>
                </a:solidFill>
                <a:latin typeface="Calibri"/>
                <a:cs typeface="Calibri"/>
              </a:rPr>
              <a:t>customer</a:t>
            </a:r>
            <a:r>
              <a:rPr sz="2600" spc="-80" dirty="0">
                <a:solidFill>
                  <a:srgbClr val="404040"/>
                </a:solidFill>
                <a:latin typeface="Calibri"/>
                <a:cs typeface="Calibri"/>
              </a:rPr>
              <a:t> </a:t>
            </a:r>
            <a:r>
              <a:rPr sz="2600" spc="-20" dirty="0">
                <a:solidFill>
                  <a:srgbClr val="404040"/>
                </a:solidFill>
                <a:latin typeface="Calibri"/>
                <a:cs typeface="Calibri"/>
              </a:rPr>
              <a:t>retention</a:t>
            </a:r>
            <a:r>
              <a:rPr sz="2600" spc="-100" dirty="0">
                <a:solidFill>
                  <a:srgbClr val="404040"/>
                </a:solidFill>
                <a:latin typeface="Calibri"/>
                <a:cs typeface="Calibri"/>
              </a:rPr>
              <a:t> </a:t>
            </a:r>
            <a:r>
              <a:rPr sz="2600" spc="-10" dirty="0">
                <a:solidFill>
                  <a:srgbClr val="404040"/>
                </a:solidFill>
                <a:latin typeface="Calibri"/>
                <a:cs typeface="Calibri"/>
              </a:rPr>
              <a:t>opportunities.</a:t>
            </a:r>
            <a:endParaRPr sz="26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0558" rIns="0" bIns="0" rtlCol="0">
            <a:spAutoFit/>
          </a:bodyPr>
          <a:lstStyle/>
          <a:p>
            <a:pPr marL="2446020">
              <a:lnSpc>
                <a:spcPct val="100000"/>
              </a:lnSpc>
              <a:spcBef>
                <a:spcPts val="130"/>
              </a:spcBef>
            </a:pPr>
            <a:r>
              <a:rPr sz="3500" spc="-80" dirty="0"/>
              <a:t>PROJECT</a:t>
            </a:r>
            <a:r>
              <a:rPr sz="3500" spc="-210" dirty="0"/>
              <a:t> </a:t>
            </a:r>
            <a:r>
              <a:rPr sz="3500" spc="-35" dirty="0"/>
              <a:t>OBJECTIVES</a:t>
            </a:r>
            <a:endParaRPr sz="3500"/>
          </a:p>
        </p:txBody>
      </p:sp>
      <p:sp>
        <p:nvSpPr>
          <p:cNvPr id="3" name="object 3"/>
          <p:cNvSpPr txBox="1"/>
          <p:nvPr/>
        </p:nvSpPr>
        <p:spPr>
          <a:xfrm>
            <a:off x="1076325" y="1937003"/>
            <a:ext cx="6406515" cy="2768600"/>
          </a:xfrm>
          <a:prstGeom prst="rect">
            <a:avLst/>
          </a:prstGeom>
        </p:spPr>
        <p:txBody>
          <a:bodyPr vert="horz" wrap="square" lIns="0" tIns="165100" rIns="0" bIns="0" rtlCol="0">
            <a:spAutoFit/>
          </a:bodyPr>
          <a:lstStyle/>
          <a:p>
            <a:pPr marL="135890" indent="-123825">
              <a:lnSpc>
                <a:spcPct val="100000"/>
              </a:lnSpc>
              <a:spcBef>
                <a:spcPts val="1300"/>
              </a:spcBef>
              <a:buClr>
                <a:srgbClr val="E38312"/>
              </a:buClr>
              <a:buSzPct val="95000"/>
              <a:buFont typeface="Wingdings"/>
              <a:buChar char=""/>
              <a:tabLst>
                <a:tab pos="135890" algn="l"/>
              </a:tabLst>
            </a:pPr>
            <a:r>
              <a:rPr sz="2000" spc="-10" dirty="0">
                <a:solidFill>
                  <a:srgbClr val="404040"/>
                </a:solidFill>
                <a:latin typeface="Calibri"/>
                <a:cs typeface="Calibri"/>
              </a:rPr>
              <a:t>Project</a:t>
            </a:r>
            <a:r>
              <a:rPr sz="2000" spc="-65" dirty="0">
                <a:solidFill>
                  <a:srgbClr val="404040"/>
                </a:solidFill>
                <a:latin typeface="Calibri"/>
                <a:cs typeface="Calibri"/>
              </a:rPr>
              <a:t> </a:t>
            </a:r>
            <a:r>
              <a:rPr sz="2000" spc="-10" dirty="0">
                <a:solidFill>
                  <a:srgbClr val="404040"/>
                </a:solidFill>
                <a:latin typeface="Calibri"/>
                <a:cs typeface="Calibri"/>
              </a:rPr>
              <a:t>Objectives</a:t>
            </a:r>
            <a:r>
              <a:rPr sz="2000" spc="-65" dirty="0">
                <a:solidFill>
                  <a:srgbClr val="404040"/>
                </a:solidFill>
                <a:latin typeface="Calibri"/>
                <a:cs typeface="Calibri"/>
              </a:rPr>
              <a:t> </a:t>
            </a:r>
            <a:r>
              <a:rPr sz="2000" spc="-10" dirty="0">
                <a:solidFill>
                  <a:srgbClr val="404040"/>
                </a:solidFill>
                <a:latin typeface="Calibri"/>
                <a:cs typeface="Calibri"/>
              </a:rPr>
              <a:t>Analyze</a:t>
            </a:r>
            <a:r>
              <a:rPr sz="2000" spc="-75" dirty="0">
                <a:solidFill>
                  <a:srgbClr val="404040"/>
                </a:solidFill>
                <a:latin typeface="Calibri"/>
                <a:cs typeface="Calibri"/>
              </a:rPr>
              <a:t> </a:t>
            </a:r>
            <a:r>
              <a:rPr sz="2000" spc="-10" dirty="0">
                <a:solidFill>
                  <a:srgbClr val="404040"/>
                </a:solidFill>
                <a:latin typeface="Calibri"/>
                <a:cs typeface="Calibri"/>
              </a:rPr>
              <a:t>shipment</a:t>
            </a:r>
            <a:r>
              <a:rPr sz="2000" spc="-60" dirty="0">
                <a:solidFill>
                  <a:srgbClr val="404040"/>
                </a:solidFill>
                <a:latin typeface="Calibri"/>
                <a:cs typeface="Calibri"/>
              </a:rPr>
              <a:t> </a:t>
            </a:r>
            <a:r>
              <a:rPr sz="2000" dirty="0">
                <a:solidFill>
                  <a:srgbClr val="404040"/>
                </a:solidFill>
                <a:latin typeface="Calibri"/>
                <a:cs typeface="Calibri"/>
              </a:rPr>
              <a:t>and</a:t>
            </a:r>
            <a:r>
              <a:rPr sz="2000" spc="-70" dirty="0">
                <a:solidFill>
                  <a:srgbClr val="404040"/>
                </a:solidFill>
                <a:latin typeface="Calibri"/>
                <a:cs typeface="Calibri"/>
              </a:rPr>
              <a:t> </a:t>
            </a:r>
            <a:r>
              <a:rPr sz="2000" dirty="0">
                <a:solidFill>
                  <a:srgbClr val="404040"/>
                </a:solidFill>
                <a:latin typeface="Calibri"/>
                <a:cs typeface="Calibri"/>
              </a:rPr>
              <a:t>sales</a:t>
            </a:r>
            <a:r>
              <a:rPr sz="2000" spc="-45" dirty="0">
                <a:solidFill>
                  <a:srgbClr val="404040"/>
                </a:solidFill>
                <a:latin typeface="Calibri"/>
                <a:cs typeface="Calibri"/>
              </a:rPr>
              <a:t> </a:t>
            </a:r>
            <a:r>
              <a:rPr sz="2000" spc="-10" dirty="0">
                <a:solidFill>
                  <a:srgbClr val="404040"/>
                </a:solidFill>
                <a:latin typeface="Calibri"/>
                <a:cs typeface="Calibri"/>
              </a:rPr>
              <a:t>data.</a:t>
            </a:r>
            <a:endParaRPr sz="2000">
              <a:latin typeface="Calibri"/>
              <a:cs typeface="Calibri"/>
            </a:endParaRPr>
          </a:p>
          <a:p>
            <a:pPr marL="135890" indent="-123825">
              <a:lnSpc>
                <a:spcPct val="100000"/>
              </a:lnSpc>
              <a:spcBef>
                <a:spcPts val="1200"/>
              </a:spcBef>
              <a:buClr>
                <a:srgbClr val="E38312"/>
              </a:buClr>
              <a:buSzPct val="95000"/>
              <a:buFont typeface="Wingdings"/>
              <a:buChar char=""/>
              <a:tabLst>
                <a:tab pos="135890" algn="l"/>
              </a:tabLst>
            </a:pPr>
            <a:r>
              <a:rPr sz="2000" spc="-10" dirty="0">
                <a:solidFill>
                  <a:srgbClr val="404040"/>
                </a:solidFill>
                <a:latin typeface="Calibri"/>
                <a:cs typeface="Calibri"/>
              </a:rPr>
              <a:t>Identify</a:t>
            </a:r>
            <a:r>
              <a:rPr sz="2000" spc="-60" dirty="0">
                <a:solidFill>
                  <a:srgbClr val="404040"/>
                </a:solidFill>
                <a:latin typeface="Calibri"/>
                <a:cs typeface="Calibri"/>
              </a:rPr>
              <a:t> </a:t>
            </a:r>
            <a:r>
              <a:rPr sz="2000" spc="-10" dirty="0">
                <a:solidFill>
                  <a:srgbClr val="404040"/>
                </a:solidFill>
                <a:latin typeface="Calibri"/>
                <a:cs typeface="Calibri"/>
              </a:rPr>
              <a:t>delayed</a:t>
            </a:r>
            <a:r>
              <a:rPr sz="2000" spc="-65" dirty="0">
                <a:solidFill>
                  <a:srgbClr val="404040"/>
                </a:solidFill>
                <a:latin typeface="Calibri"/>
                <a:cs typeface="Calibri"/>
              </a:rPr>
              <a:t> </a:t>
            </a:r>
            <a:r>
              <a:rPr sz="2000" dirty="0">
                <a:solidFill>
                  <a:srgbClr val="404040"/>
                </a:solidFill>
                <a:latin typeface="Calibri"/>
                <a:cs typeface="Calibri"/>
              </a:rPr>
              <a:t>and</a:t>
            </a:r>
            <a:r>
              <a:rPr sz="2000" spc="-50" dirty="0">
                <a:solidFill>
                  <a:srgbClr val="404040"/>
                </a:solidFill>
                <a:latin typeface="Calibri"/>
                <a:cs typeface="Calibri"/>
              </a:rPr>
              <a:t> </a:t>
            </a:r>
            <a:r>
              <a:rPr sz="2000" spc="-25" dirty="0">
                <a:solidFill>
                  <a:srgbClr val="404040"/>
                </a:solidFill>
                <a:latin typeface="Calibri"/>
                <a:cs typeface="Calibri"/>
              </a:rPr>
              <a:t>on-</a:t>
            </a:r>
            <a:r>
              <a:rPr sz="2000" dirty="0">
                <a:solidFill>
                  <a:srgbClr val="404040"/>
                </a:solidFill>
                <a:latin typeface="Calibri"/>
                <a:cs typeface="Calibri"/>
              </a:rPr>
              <a:t>time</a:t>
            </a:r>
            <a:r>
              <a:rPr sz="2000" spc="-35" dirty="0">
                <a:solidFill>
                  <a:srgbClr val="404040"/>
                </a:solidFill>
                <a:latin typeface="Calibri"/>
                <a:cs typeface="Calibri"/>
              </a:rPr>
              <a:t> </a:t>
            </a:r>
            <a:r>
              <a:rPr sz="2000" spc="-10" dirty="0">
                <a:solidFill>
                  <a:srgbClr val="404040"/>
                </a:solidFill>
                <a:latin typeface="Calibri"/>
                <a:cs typeface="Calibri"/>
              </a:rPr>
              <a:t>deliveries.</a:t>
            </a:r>
            <a:endParaRPr sz="2000">
              <a:latin typeface="Calibri"/>
              <a:cs typeface="Calibri"/>
            </a:endParaRPr>
          </a:p>
          <a:p>
            <a:pPr marL="135890" indent="-123825">
              <a:lnSpc>
                <a:spcPct val="100000"/>
              </a:lnSpc>
              <a:spcBef>
                <a:spcPts val="1200"/>
              </a:spcBef>
              <a:buClr>
                <a:srgbClr val="E38312"/>
              </a:buClr>
              <a:buSzPct val="95000"/>
              <a:buFont typeface="Wingdings"/>
              <a:buChar char=""/>
              <a:tabLst>
                <a:tab pos="135890" algn="l"/>
              </a:tabLst>
            </a:pPr>
            <a:r>
              <a:rPr sz="2000" spc="-20" dirty="0">
                <a:solidFill>
                  <a:srgbClr val="404040"/>
                </a:solidFill>
                <a:latin typeface="Calibri"/>
                <a:cs typeface="Calibri"/>
              </a:rPr>
              <a:t>Calculate</a:t>
            </a:r>
            <a:r>
              <a:rPr sz="2000" spc="-65" dirty="0">
                <a:solidFill>
                  <a:srgbClr val="404040"/>
                </a:solidFill>
                <a:latin typeface="Calibri"/>
                <a:cs typeface="Calibri"/>
              </a:rPr>
              <a:t> </a:t>
            </a:r>
            <a:r>
              <a:rPr sz="2000" spc="-10" dirty="0">
                <a:solidFill>
                  <a:srgbClr val="404040"/>
                </a:solidFill>
                <a:latin typeface="Calibri"/>
                <a:cs typeface="Calibri"/>
              </a:rPr>
              <a:t>shipment</a:t>
            </a:r>
            <a:r>
              <a:rPr sz="2000" spc="-45" dirty="0">
                <a:solidFill>
                  <a:srgbClr val="404040"/>
                </a:solidFill>
                <a:latin typeface="Calibri"/>
                <a:cs typeface="Calibri"/>
              </a:rPr>
              <a:t> </a:t>
            </a:r>
            <a:r>
              <a:rPr sz="2000" spc="-10" dirty="0">
                <a:solidFill>
                  <a:srgbClr val="404040"/>
                </a:solidFill>
                <a:latin typeface="Calibri"/>
                <a:cs typeface="Calibri"/>
              </a:rPr>
              <a:t>delay</a:t>
            </a:r>
            <a:r>
              <a:rPr sz="2000" spc="-70" dirty="0">
                <a:solidFill>
                  <a:srgbClr val="404040"/>
                </a:solidFill>
                <a:latin typeface="Calibri"/>
                <a:cs typeface="Calibri"/>
              </a:rPr>
              <a:t> </a:t>
            </a:r>
            <a:r>
              <a:rPr sz="2000" spc="-20" dirty="0">
                <a:solidFill>
                  <a:srgbClr val="404040"/>
                </a:solidFill>
                <a:latin typeface="Calibri"/>
                <a:cs typeface="Calibri"/>
              </a:rPr>
              <a:t>days.</a:t>
            </a:r>
            <a:endParaRPr sz="2000">
              <a:latin typeface="Calibri"/>
              <a:cs typeface="Calibri"/>
            </a:endParaRPr>
          </a:p>
          <a:p>
            <a:pPr marL="135890" indent="-123825">
              <a:lnSpc>
                <a:spcPct val="100000"/>
              </a:lnSpc>
              <a:spcBef>
                <a:spcPts val="1200"/>
              </a:spcBef>
              <a:buClr>
                <a:srgbClr val="E38312"/>
              </a:buClr>
              <a:buSzPct val="95000"/>
              <a:buFont typeface="Wingdings"/>
              <a:buChar char=""/>
              <a:tabLst>
                <a:tab pos="135890" algn="l"/>
              </a:tabLst>
            </a:pPr>
            <a:r>
              <a:rPr sz="2000" spc="-10" dirty="0">
                <a:solidFill>
                  <a:srgbClr val="404040"/>
                </a:solidFill>
                <a:latin typeface="Calibri"/>
                <a:cs typeface="Calibri"/>
              </a:rPr>
              <a:t>Classify</a:t>
            </a:r>
            <a:r>
              <a:rPr sz="2000" spc="-80" dirty="0">
                <a:solidFill>
                  <a:srgbClr val="404040"/>
                </a:solidFill>
                <a:latin typeface="Calibri"/>
                <a:cs typeface="Calibri"/>
              </a:rPr>
              <a:t> </a:t>
            </a:r>
            <a:r>
              <a:rPr sz="2000" spc="-10" dirty="0">
                <a:solidFill>
                  <a:srgbClr val="404040"/>
                </a:solidFill>
                <a:latin typeface="Calibri"/>
                <a:cs typeface="Calibri"/>
              </a:rPr>
              <a:t>shipments</a:t>
            </a:r>
            <a:r>
              <a:rPr sz="2000" spc="-50" dirty="0">
                <a:solidFill>
                  <a:srgbClr val="404040"/>
                </a:solidFill>
                <a:latin typeface="Calibri"/>
                <a:cs typeface="Calibri"/>
              </a:rPr>
              <a:t> </a:t>
            </a:r>
            <a:r>
              <a:rPr sz="2000" dirty="0">
                <a:solidFill>
                  <a:srgbClr val="404040"/>
                </a:solidFill>
                <a:latin typeface="Calibri"/>
                <a:cs typeface="Calibri"/>
              </a:rPr>
              <a:t>into</a:t>
            </a:r>
            <a:r>
              <a:rPr sz="2000" spc="-75" dirty="0">
                <a:solidFill>
                  <a:srgbClr val="404040"/>
                </a:solidFill>
                <a:latin typeface="Calibri"/>
                <a:cs typeface="Calibri"/>
              </a:rPr>
              <a:t> </a:t>
            </a:r>
            <a:r>
              <a:rPr sz="2000" spc="-20" dirty="0">
                <a:solidFill>
                  <a:srgbClr val="404040"/>
                </a:solidFill>
                <a:latin typeface="Calibri"/>
                <a:cs typeface="Calibri"/>
              </a:rPr>
              <a:t>different</a:t>
            </a:r>
            <a:r>
              <a:rPr sz="2000" spc="-75" dirty="0">
                <a:solidFill>
                  <a:srgbClr val="404040"/>
                </a:solidFill>
                <a:latin typeface="Calibri"/>
                <a:cs typeface="Calibri"/>
              </a:rPr>
              <a:t> </a:t>
            </a:r>
            <a:r>
              <a:rPr sz="2000" dirty="0">
                <a:solidFill>
                  <a:srgbClr val="404040"/>
                </a:solidFill>
                <a:latin typeface="Calibri"/>
                <a:cs typeface="Calibri"/>
              </a:rPr>
              <a:t>risk</a:t>
            </a:r>
            <a:r>
              <a:rPr sz="2000" spc="-60" dirty="0">
                <a:solidFill>
                  <a:srgbClr val="404040"/>
                </a:solidFill>
                <a:latin typeface="Calibri"/>
                <a:cs typeface="Calibri"/>
              </a:rPr>
              <a:t> </a:t>
            </a:r>
            <a:r>
              <a:rPr sz="2000" spc="-10" dirty="0">
                <a:solidFill>
                  <a:srgbClr val="404040"/>
                </a:solidFill>
                <a:latin typeface="Calibri"/>
                <a:cs typeface="Calibri"/>
              </a:rPr>
              <a:t>levels.</a:t>
            </a:r>
            <a:endParaRPr sz="2000">
              <a:latin typeface="Calibri"/>
              <a:cs typeface="Calibri"/>
            </a:endParaRPr>
          </a:p>
          <a:p>
            <a:pPr marL="135890" indent="-123825">
              <a:lnSpc>
                <a:spcPct val="100000"/>
              </a:lnSpc>
              <a:spcBef>
                <a:spcPts val="1200"/>
              </a:spcBef>
              <a:buClr>
                <a:srgbClr val="E38312"/>
              </a:buClr>
              <a:buSzPct val="95000"/>
              <a:buFont typeface="Wingdings"/>
              <a:buChar char=""/>
              <a:tabLst>
                <a:tab pos="135890" algn="l"/>
              </a:tabLst>
            </a:pPr>
            <a:r>
              <a:rPr sz="2000" spc="-20" dirty="0">
                <a:solidFill>
                  <a:srgbClr val="404040"/>
                </a:solidFill>
                <a:latin typeface="Calibri"/>
                <a:cs typeface="Calibri"/>
              </a:rPr>
              <a:t>Analyze</a:t>
            </a:r>
            <a:r>
              <a:rPr sz="2000" spc="-95" dirty="0">
                <a:solidFill>
                  <a:srgbClr val="404040"/>
                </a:solidFill>
                <a:latin typeface="Calibri"/>
                <a:cs typeface="Calibri"/>
              </a:rPr>
              <a:t> </a:t>
            </a:r>
            <a:r>
              <a:rPr sz="2000" dirty="0">
                <a:solidFill>
                  <a:srgbClr val="404040"/>
                </a:solidFill>
                <a:latin typeface="Calibri"/>
                <a:cs typeface="Calibri"/>
              </a:rPr>
              <a:t>sales</a:t>
            </a:r>
            <a:r>
              <a:rPr sz="2000" spc="-35" dirty="0">
                <a:solidFill>
                  <a:srgbClr val="404040"/>
                </a:solidFill>
                <a:latin typeface="Calibri"/>
                <a:cs typeface="Calibri"/>
              </a:rPr>
              <a:t> </a:t>
            </a:r>
            <a:r>
              <a:rPr sz="2000" dirty="0">
                <a:solidFill>
                  <a:srgbClr val="404040"/>
                </a:solidFill>
                <a:latin typeface="Calibri"/>
                <a:cs typeface="Calibri"/>
              </a:rPr>
              <a:t>by</a:t>
            </a:r>
            <a:r>
              <a:rPr sz="2000" spc="-80" dirty="0">
                <a:solidFill>
                  <a:srgbClr val="404040"/>
                </a:solidFill>
                <a:latin typeface="Calibri"/>
                <a:cs typeface="Calibri"/>
              </a:rPr>
              <a:t> </a:t>
            </a:r>
            <a:r>
              <a:rPr sz="2000" dirty="0">
                <a:solidFill>
                  <a:srgbClr val="404040"/>
                </a:solidFill>
                <a:latin typeface="Calibri"/>
                <a:cs typeface="Calibri"/>
              </a:rPr>
              <a:t>category</a:t>
            </a:r>
            <a:r>
              <a:rPr sz="2000" spc="-60" dirty="0">
                <a:solidFill>
                  <a:srgbClr val="404040"/>
                </a:solidFill>
                <a:latin typeface="Calibri"/>
                <a:cs typeface="Calibri"/>
              </a:rPr>
              <a:t> </a:t>
            </a:r>
            <a:r>
              <a:rPr sz="2000" dirty="0">
                <a:solidFill>
                  <a:srgbClr val="404040"/>
                </a:solidFill>
                <a:latin typeface="Calibri"/>
                <a:cs typeface="Calibri"/>
              </a:rPr>
              <a:t>and</a:t>
            </a:r>
            <a:r>
              <a:rPr sz="2000" spc="-85" dirty="0">
                <a:solidFill>
                  <a:srgbClr val="404040"/>
                </a:solidFill>
                <a:latin typeface="Calibri"/>
                <a:cs typeface="Calibri"/>
              </a:rPr>
              <a:t> </a:t>
            </a:r>
            <a:r>
              <a:rPr sz="2000" spc="-10" dirty="0">
                <a:solidFill>
                  <a:srgbClr val="404040"/>
                </a:solidFill>
                <a:latin typeface="Calibri"/>
                <a:cs typeface="Calibri"/>
              </a:rPr>
              <a:t>month.</a:t>
            </a:r>
            <a:endParaRPr sz="2000">
              <a:latin typeface="Calibri"/>
              <a:cs typeface="Calibri"/>
            </a:endParaRPr>
          </a:p>
          <a:p>
            <a:pPr marL="135890" indent="-123825">
              <a:lnSpc>
                <a:spcPct val="100000"/>
              </a:lnSpc>
              <a:spcBef>
                <a:spcPts val="1200"/>
              </a:spcBef>
              <a:buClr>
                <a:srgbClr val="E38312"/>
              </a:buClr>
              <a:buSzPct val="95000"/>
              <a:buFont typeface="Wingdings"/>
              <a:buChar char=""/>
              <a:tabLst>
                <a:tab pos="135890" algn="l"/>
              </a:tabLst>
            </a:pPr>
            <a:r>
              <a:rPr sz="2000" spc="-20" dirty="0">
                <a:solidFill>
                  <a:srgbClr val="404040"/>
                </a:solidFill>
                <a:latin typeface="Calibri"/>
                <a:cs typeface="Calibri"/>
              </a:rPr>
              <a:t>Generate</a:t>
            </a:r>
            <a:r>
              <a:rPr sz="2000" spc="-85" dirty="0">
                <a:solidFill>
                  <a:srgbClr val="404040"/>
                </a:solidFill>
                <a:latin typeface="Calibri"/>
                <a:cs typeface="Calibri"/>
              </a:rPr>
              <a:t> </a:t>
            </a:r>
            <a:r>
              <a:rPr sz="2000" dirty="0">
                <a:solidFill>
                  <a:srgbClr val="404040"/>
                </a:solidFill>
                <a:latin typeface="Calibri"/>
                <a:cs typeface="Calibri"/>
              </a:rPr>
              <a:t>visual</a:t>
            </a:r>
            <a:r>
              <a:rPr sz="2000" spc="-65" dirty="0">
                <a:solidFill>
                  <a:srgbClr val="404040"/>
                </a:solidFill>
                <a:latin typeface="Calibri"/>
                <a:cs typeface="Calibri"/>
              </a:rPr>
              <a:t> </a:t>
            </a:r>
            <a:r>
              <a:rPr sz="2000" dirty="0">
                <a:solidFill>
                  <a:srgbClr val="404040"/>
                </a:solidFill>
                <a:latin typeface="Calibri"/>
                <a:cs typeface="Calibri"/>
              </a:rPr>
              <a:t>insights</a:t>
            </a:r>
            <a:r>
              <a:rPr sz="2000" spc="-75" dirty="0">
                <a:solidFill>
                  <a:srgbClr val="404040"/>
                </a:solidFill>
                <a:latin typeface="Calibri"/>
                <a:cs typeface="Calibri"/>
              </a:rPr>
              <a:t> </a:t>
            </a:r>
            <a:r>
              <a:rPr sz="2000" dirty="0">
                <a:solidFill>
                  <a:srgbClr val="404040"/>
                </a:solidFill>
                <a:latin typeface="Calibri"/>
                <a:cs typeface="Calibri"/>
              </a:rPr>
              <a:t>to</a:t>
            </a:r>
            <a:r>
              <a:rPr sz="2000" spc="-90" dirty="0">
                <a:solidFill>
                  <a:srgbClr val="404040"/>
                </a:solidFill>
                <a:latin typeface="Calibri"/>
                <a:cs typeface="Calibri"/>
              </a:rPr>
              <a:t> </a:t>
            </a:r>
            <a:r>
              <a:rPr sz="2000" dirty="0">
                <a:solidFill>
                  <a:srgbClr val="404040"/>
                </a:solidFill>
                <a:latin typeface="Calibri"/>
                <a:cs typeface="Calibri"/>
              </a:rPr>
              <a:t>support</a:t>
            </a:r>
            <a:r>
              <a:rPr sz="2000" spc="-85" dirty="0">
                <a:solidFill>
                  <a:srgbClr val="404040"/>
                </a:solidFill>
                <a:latin typeface="Calibri"/>
                <a:cs typeface="Calibri"/>
              </a:rPr>
              <a:t> </a:t>
            </a:r>
            <a:r>
              <a:rPr sz="2000" dirty="0">
                <a:solidFill>
                  <a:srgbClr val="404040"/>
                </a:solidFill>
                <a:latin typeface="Calibri"/>
                <a:cs typeface="Calibri"/>
              </a:rPr>
              <a:t>better</a:t>
            </a:r>
            <a:r>
              <a:rPr sz="2000" spc="-75" dirty="0">
                <a:solidFill>
                  <a:srgbClr val="404040"/>
                </a:solidFill>
                <a:latin typeface="Calibri"/>
                <a:cs typeface="Calibri"/>
              </a:rPr>
              <a:t> </a:t>
            </a:r>
            <a:r>
              <a:rPr sz="2000" spc="-10" dirty="0">
                <a:solidFill>
                  <a:srgbClr val="404040"/>
                </a:solidFill>
                <a:latin typeface="Calibri"/>
                <a:cs typeface="Calibri"/>
              </a:rPr>
              <a:t>business</a:t>
            </a:r>
            <a:r>
              <a:rPr sz="2000" spc="-80" dirty="0">
                <a:solidFill>
                  <a:srgbClr val="404040"/>
                </a:solidFill>
                <a:latin typeface="Calibri"/>
                <a:cs typeface="Calibri"/>
              </a:rPr>
              <a:t> </a:t>
            </a:r>
            <a:r>
              <a:rPr sz="2000" spc="-10" dirty="0">
                <a:solidFill>
                  <a:srgbClr val="404040"/>
                </a:solidFill>
                <a:latin typeface="Calibri"/>
                <a:cs typeface="Calibri"/>
              </a:rPr>
              <a:t>decisions.</a:t>
            </a:r>
            <a:endParaRPr sz="20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366259" y="471085"/>
            <a:ext cx="3407410" cy="623570"/>
          </a:xfrm>
          <a:prstGeom prst="rect">
            <a:avLst/>
          </a:prstGeom>
        </p:spPr>
        <p:txBody>
          <a:bodyPr vert="horz" wrap="square" lIns="0" tIns="15240" rIns="0" bIns="0" rtlCol="0">
            <a:spAutoFit/>
          </a:bodyPr>
          <a:lstStyle/>
          <a:p>
            <a:pPr marL="12700">
              <a:lnSpc>
                <a:spcPct val="100000"/>
              </a:lnSpc>
              <a:spcBef>
                <a:spcPts val="120"/>
              </a:spcBef>
            </a:pPr>
            <a:r>
              <a:rPr spc="-85" dirty="0"/>
              <a:t>Dataset</a:t>
            </a:r>
            <a:r>
              <a:rPr spc="-229" dirty="0"/>
              <a:t> </a:t>
            </a:r>
            <a:r>
              <a:rPr spc="-30" dirty="0"/>
              <a:t>Overview</a:t>
            </a:r>
          </a:p>
        </p:txBody>
      </p:sp>
      <p:sp>
        <p:nvSpPr>
          <p:cNvPr id="3" name="object 3"/>
          <p:cNvSpPr txBox="1"/>
          <p:nvPr/>
        </p:nvSpPr>
        <p:spPr>
          <a:xfrm>
            <a:off x="1075689" y="1217676"/>
            <a:ext cx="9362440" cy="1662430"/>
          </a:xfrm>
          <a:prstGeom prst="rect">
            <a:avLst/>
          </a:prstGeom>
        </p:spPr>
        <p:txBody>
          <a:bodyPr vert="horz" wrap="square" lIns="0" tIns="165100" rIns="0" bIns="0" rtlCol="0">
            <a:spAutoFit/>
          </a:bodyPr>
          <a:lstStyle/>
          <a:p>
            <a:pPr marL="247015" indent="-226695">
              <a:lnSpc>
                <a:spcPct val="100000"/>
              </a:lnSpc>
              <a:spcBef>
                <a:spcPts val="1300"/>
              </a:spcBef>
              <a:buClr>
                <a:srgbClr val="E38312"/>
              </a:buClr>
              <a:buSzPct val="95000"/>
              <a:buFont typeface="Wingdings"/>
              <a:buChar char=""/>
              <a:tabLst>
                <a:tab pos="247015" algn="l"/>
              </a:tabLst>
            </a:pPr>
            <a:r>
              <a:rPr sz="2000" b="1" spc="-10" dirty="0">
                <a:solidFill>
                  <a:srgbClr val="404040"/>
                </a:solidFill>
                <a:latin typeface="Calibri"/>
                <a:cs typeface="Calibri"/>
              </a:rPr>
              <a:t>Dataset</a:t>
            </a:r>
            <a:r>
              <a:rPr sz="2000" b="1" spc="-95" dirty="0">
                <a:solidFill>
                  <a:srgbClr val="404040"/>
                </a:solidFill>
                <a:latin typeface="Calibri"/>
                <a:cs typeface="Calibri"/>
              </a:rPr>
              <a:t> </a:t>
            </a:r>
            <a:r>
              <a:rPr sz="2000" b="1" spc="-10" dirty="0">
                <a:solidFill>
                  <a:srgbClr val="404040"/>
                </a:solidFill>
                <a:latin typeface="Calibri"/>
                <a:cs typeface="Calibri"/>
              </a:rPr>
              <a:t>Overview</a:t>
            </a:r>
            <a:r>
              <a:rPr sz="2000" b="1" spc="-80" dirty="0">
                <a:solidFill>
                  <a:srgbClr val="404040"/>
                </a:solidFill>
                <a:latin typeface="Calibri"/>
                <a:cs typeface="Calibri"/>
              </a:rPr>
              <a:t> </a:t>
            </a:r>
            <a:r>
              <a:rPr sz="2000" spc="-50" dirty="0">
                <a:solidFill>
                  <a:srgbClr val="404040"/>
                </a:solidFill>
                <a:latin typeface="Calibri"/>
                <a:cs typeface="Calibri"/>
              </a:rPr>
              <a:t>:</a:t>
            </a:r>
            <a:endParaRPr sz="2000">
              <a:latin typeface="Calibri"/>
              <a:cs typeface="Calibri"/>
            </a:endParaRPr>
          </a:p>
          <a:p>
            <a:pPr marL="112395" marR="5080" indent="-100965">
              <a:lnSpc>
                <a:spcPts val="2210"/>
              </a:lnSpc>
              <a:spcBef>
                <a:spcPts val="1430"/>
              </a:spcBef>
              <a:buClr>
                <a:srgbClr val="E38312"/>
              </a:buClr>
              <a:buSzPct val="95000"/>
              <a:buFont typeface="Wingdings"/>
              <a:buChar char=""/>
              <a:tabLst>
                <a:tab pos="112395" algn="l"/>
                <a:tab pos="135255" algn="l"/>
              </a:tabLst>
            </a:pPr>
            <a:r>
              <a:rPr sz="2000" dirty="0">
                <a:solidFill>
                  <a:srgbClr val="404040"/>
                </a:solidFill>
                <a:latin typeface="Calibri"/>
                <a:cs typeface="Calibri"/>
              </a:rPr>
              <a:t>	The</a:t>
            </a:r>
            <a:r>
              <a:rPr sz="2000" spc="-65" dirty="0">
                <a:solidFill>
                  <a:srgbClr val="404040"/>
                </a:solidFill>
                <a:latin typeface="Calibri"/>
                <a:cs typeface="Calibri"/>
              </a:rPr>
              <a:t> </a:t>
            </a:r>
            <a:r>
              <a:rPr sz="2000" dirty="0">
                <a:solidFill>
                  <a:srgbClr val="404040"/>
                </a:solidFill>
                <a:latin typeface="Calibri"/>
                <a:cs typeface="Calibri"/>
              </a:rPr>
              <a:t>project</a:t>
            </a:r>
            <a:r>
              <a:rPr sz="2000" spc="-55" dirty="0">
                <a:solidFill>
                  <a:srgbClr val="404040"/>
                </a:solidFill>
                <a:latin typeface="Calibri"/>
                <a:cs typeface="Calibri"/>
              </a:rPr>
              <a:t> </a:t>
            </a:r>
            <a:r>
              <a:rPr sz="2000" dirty="0">
                <a:solidFill>
                  <a:srgbClr val="404040"/>
                </a:solidFill>
                <a:latin typeface="Calibri"/>
                <a:cs typeface="Calibri"/>
              </a:rPr>
              <a:t>uses</a:t>
            </a:r>
            <a:r>
              <a:rPr sz="2000" spc="-50" dirty="0">
                <a:solidFill>
                  <a:srgbClr val="404040"/>
                </a:solidFill>
                <a:latin typeface="Calibri"/>
                <a:cs typeface="Calibri"/>
              </a:rPr>
              <a:t> </a:t>
            </a:r>
            <a:r>
              <a:rPr sz="2000" dirty="0">
                <a:solidFill>
                  <a:srgbClr val="404040"/>
                </a:solidFill>
                <a:latin typeface="Calibri"/>
                <a:cs typeface="Calibri"/>
              </a:rPr>
              <a:t>a</a:t>
            </a:r>
            <a:r>
              <a:rPr sz="2000" spc="-50" dirty="0">
                <a:solidFill>
                  <a:srgbClr val="404040"/>
                </a:solidFill>
                <a:latin typeface="Calibri"/>
                <a:cs typeface="Calibri"/>
              </a:rPr>
              <a:t> </a:t>
            </a:r>
            <a:r>
              <a:rPr sz="2000" spc="-10" dirty="0">
                <a:solidFill>
                  <a:srgbClr val="404040"/>
                </a:solidFill>
                <a:latin typeface="Calibri"/>
                <a:cs typeface="Calibri"/>
              </a:rPr>
              <a:t>Supply</a:t>
            </a:r>
            <a:r>
              <a:rPr sz="2000" spc="-80" dirty="0">
                <a:solidFill>
                  <a:srgbClr val="404040"/>
                </a:solidFill>
                <a:latin typeface="Calibri"/>
                <a:cs typeface="Calibri"/>
              </a:rPr>
              <a:t> </a:t>
            </a:r>
            <a:r>
              <a:rPr sz="2000" dirty="0">
                <a:solidFill>
                  <a:srgbClr val="404040"/>
                </a:solidFill>
                <a:latin typeface="Calibri"/>
                <a:cs typeface="Calibri"/>
              </a:rPr>
              <a:t>Chain</a:t>
            </a:r>
            <a:r>
              <a:rPr sz="2000" spc="-75" dirty="0">
                <a:solidFill>
                  <a:srgbClr val="404040"/>
                </a:solidFill>
                <a:latin typeface="Calibri"/>
                <a:cs typeface="Calibri"/>
              </a:rPr>
              <a:t> </a:t>
            </a:r>
            <a:r>
              <a:rPr sz="2000" spc="-10" dirty="0">
                <a:solidFill>
                  <a:srgbClr val="404040"/>
                </a:solidFill>
                <a:latin typeface="Calibri"/>
                <a:cs typeface="Calibri"/>
              </a:rPr>
              <a:t>Shipment</a:t>
            </a:r>
            <a:r>
              <a:rPr sz="2000" spc="-50" dirty="0">
                <a:solidFill>
                  <a:srgbClr val="404040"/>
                </a:solidFill>
                <a:latin typeface="Calibri"/>
                <a:cs typeface="Calibri"/>
              </a:rPr>
              <a:t> </a:t>
            </a:r>
            <a:r>
              <a:rPr sz="2000" dirty="0">
                <a:solidFill>
                  <a:srgbClr val="404040"/>
                </a:solidFill>
                <a:latin typeface="Calibri"/>
                <a:cs typeface="Calibri"/>
              </a:rPr>
              <a:t>Dataset</a:t>
            </a:r>
            <a:r>
              <a:rPr sz="2000" spc="-45" dirty="0">
                <a:solidFill>
                  <a:srgbClr val="404040"/>
                </a:solidFill>
                <a:latin typeface="Calibri"/>
                <a:cs typeface="Calibri"/>
              </a:rPr>
              <a:t> </a:t>
            </a:r>
            <a:r>
              <a:rPr sz="2000" spc="-10" dirty="0">
                <a:solidFill>
                  <a:srgbClr val="404040"/>
                </a:solidFill>
                <a:latin typeface="Calibri"/>
                <a:cs typeface="Calibri"/>
              </a:rPr>
              <a:t>containing</a:t>
            </a:r>
            <a:r>
              <a:rPr sz="2000" spc="-65" dirty="0">
                <a:solidFill>
                  <a:srgbClr val="404040"/>
                </a:solidFill>
                <a:latin typeface="Calibri"/>
                <a:cs typeface="Calibri"/>
              </a:rPr>
              <a:t> </a:t>
            </a:r>
            <a:r>
              <a:rPr sz="2000" spc="-20" dirty="0">
                <a:solidFill>
                  <a:srgbClr val="404040"/>
                </a:solidFill>
                <a:latin typeface="Calibri"/>
                <a:cs typeface="Calibri"/>
              </a:rPr>
              <a:t>information</a:t>
            </a:r>
            <a:r>
              <a:rPr sz="2000" spc="-75" dirty="0">
                <a:solidFill>
                  <a:srgbClr val="404040"/>
                </a:solidFill>
                <a:latin typeface="Calibri"/>
                <a:cs typeface="Calibri"/>
              </a:rPr>
              <a:t> </a:t>
            </a:r>
            <a:r>
              <a:rPr sz="2000" dirty="0">
                <a:solidFill>
                  <a:srgbClr val="404040"/>
                </a:solidFill>
                <a:latin typeface="Calibri"/>
                <a:cs typeface="Calibri"/>
              </a:rPr>
              <a:t>about</a:t>
            </a:r>
            <a:r>
              <a:rPr sz="2000" spc="-60" dirty="0">
                <a:solidFill>
                  <a:srgbClr val="404040"/>
                </a:solidFill>
                <a:latin typeface="Calibri"/>
                <a:cs typeface="Calibri"/>
              </a:rPr>
              <a:t> </a:t>
            </a:r>
            <a:r>
              <a:rPr sz="2000" spc="-10" dirty="0">
                <a:solidFill>
                  <a:srgbClr val="404040"/>
                </a:solidFill>
                <a:latin typeface="Calibri"/>
                <a:cs typeface="Calibri"/>
              </a:rPr>
              <a:t>customer </a:t>
            </a:r>
            <a:r>
              <a:rPr sz="2000" dirty="0">
                <a:solidFill>
                  <a:srgbClr val="404040"/>
                </a:solidFill>
                <a:latin typeface="Calibri"/>
                <a:cs typeface="Calibri"/>
              </a:rPr>
              <a:t>orders,</a:t>
            </a:r>
            <a:r>
              <a:rPr sz="2000" spc="-70" dirty="0">
                <a:solidFill>
                  <a:srgbClr val="404040"/>
                </a:solidFill>
                <a:latin typeface="Calibri"/>
                <a:cs typeface="Calibri"/>
              </a:rPr>
              <a:t> </a:t>
            </a:r>
            <a:r>
              <a:rPr sz="2000" spc="-10" dirty="0">
                <a:solidFill>
                  <a:srgbClr val="404040"/>
                </a:solidFill>
                <a:latin typeface="Calibri"/>
                <a:cs typeface="Calibri"/>
              </a:rPr>
              <a:t>shipping</a:t>
            </a:r>
            <a:r>
              <a:rPr sz="2000" spc="-90" dirty="0">
                <a:solidFill>
                  <a:srgbClr val="404040"/>
                </a:solidFill>
                <a:latin typeface="Calibri"/>
                <a:cs typeface="Calibri"/>
              </a:rPr>
              <a:t> </a:t>
            </a:r>
            <a:r>
              <a:rPr sz="2000" dirty="0">
                <a:solidFill>
                  <a:srgbClr val="404040"/>
                </a:solidFill>
                <a:latin typeface="Calibri"/>
                <a:cs typeface="Calibri"/>
              </a:rPr>
              <a:t>details,</a:t>
            </a:r>
            <a:r>
              <a:rPr sz="2000" spc="-55" dirty="0">
                <a:solidFill>
                  <a:srgbClr val="404040"/>
                </a:solidFill>
                <a:latin typeface="Calibri"/>
                <a:cs typeface="Calibri"/>
              </a:rPr>
              <a:t> </a:t>
            </a:r>
            <a:r>
              <a:rPr sz="2000" dirty="0">
                <a:solidFill>
                  <a:srgbClr val="404040"/>
                </a:solidFill>
                <a:latin typeface="Calibri"/>
                <a:cs typeface="Calibri"/>
              </a:rPr>
              <a:t>product</a:t>
            </a:r>
            <a:r>
              <a:rPr sz="2000" spc="-70" dirty="0">
                <a:solidFill>
                  <a:srgbClr val="404040"/>
                </a:solidFill>
                <a:latin typeface="Calibri"/>
                <a:cs typeface="Calibri"/>
              </a:rPr>
              <a:t> </a:t>
            </a:r>
            <a:r>
              <a:rPr sz="2000" spc="-20" dirty="0">
                <a:solidFill>
                  <a:srgbClr val="404040"/>
                </a:solidFill>
                <a:latin typeface="Calibri"/>
                <a:cs typeface="Calibri"/>
              </a:rPr>
              <a:t>information,</a:t>
            </a:r>
            <a:r>
              <a:rPr sz="2000" spc="-85" dirty="0">
                <a:solidFill>
                  <a:srgbClr val="404040"/>
                </a:solidFill>
                <a:latin typeface="Calibri"/>
                <a:cs typeface="Calibri"/>
              </a:rPr>
              <a:t> </a:t>
            </a:r>
            <a:r>
              <a:rPr sz="2000" dirty="0">
                <a:solidFill>
                  <a:srgbClr val="404040"/>
                </a:solidFill>
                <a:latin typeface="Calibri"/>
                <a:cs typeface="Calibri"/>
              </a:rPr>
              <a:t>and</a:t>
            </a:r>
            <a:r>
              <a:rPr sz="2000" spc="-70" dirty="0">
                <a:solidFill>
                  <a:srgbClr val="404040"/>
                </a:solidFill>
                <a:latin typeface="Calibri"/>
                <a:cs typeface="Calibri"/>
              </a:rPr>
              <a:t> </a:t>
            </a:r>
            <a:r>
              <a:rPr sz="2000" spc="-10" dirty="0">
                <a:solidFill>
                  <a:srgbClr val="404040"/>
                </a:solidFill>
                <a:latin typeface="Calibri"/>
                <a:cs typeface="Calibri"/>
              </a:rPr>
              <a:t>sales.</a:t>
            </a:r>
            <a:endParaRPr sz="2000">
              <a:latin typeface="Calibri"/>
              <a:cs typeface="Calibri"/>
            </a:endParaRPr>
          </a:p>
          <a:p>
            <a:pPr marL="135890" indent="-123825">
              <a:lnSpc>
                <a:spcPct val="100000"/>
              </a:lnSpc>
              <a:spcBef>
                <a:spcPts val="1035"/>
              </a:spcBef>
              <a:buClr>
                <a:srgbClr val="E38312"/>
              </a:buClr>
              <a:buSzPct val="95000"/>
              <a:buFont typeface="Wingdings"/>
              <a:buChar char=""/>
              <a:tabLst>
                <a:tab pos="135890" algn="l"/>
              </a:tabLst>
            </a:pPr>
            <a:r>
              <a:rPr sz="2000" dirty="0">
                <a:solidFill>
                  <a:srgbClr val="404040"/>
                </a:solidFill>
                <a:latin typeface="Calibri"/>
                <a:cs typeface="Calibri"/>
              </a:rPr>
              <a:t>This</a:t>
            </a:r>
            <a:r>
              <a:rPr sz="2000" spc="-80" dirty="0">
                <a:solidFill>
                  <a:srgbClr val="404040"/>
                </a:solidFill>
                <a:latin typeface="Calibri"/>
                <a:cs typeface="Calibri"/>
              </a:rPr>
              <a:t> </a:t>
            </a:r>
            <a:r>
              <a:rPr sz="2000" dirty="0">
                <a:solidFill>
                  <a:srgbClr val="404040"/>
                </a:solidFill>
                <a:latin typeface="Calibri"/>
                <a:cs typeface="Calibri"/>
              </a:rPr>
              <a:t>dataset</a:t>
            </a:r>
            <a:r>
              <a:rPr sz="2000" spc="-55" dirty="0">
                <a:solidFill>
                  <a:srgbClr val="404040"/>
                </a:solidFill>
                <a:latin typeface="Calibri"/>
                <a:cs typeface="Calibri"/>
              </a:rPr>
              <a:t> </a:t>
            </a:r>
            <a:r>
              <a:rPr sz="2000" dirty="0">
                <a:solidFill>
                  <a:srgbClr val="404040"/>
                </a:solidFill>
                <a:latin typeface="Calibri"/>
                <a:cs typeface="Calibri"/>
              </a:rPr>
              <a:t>is</a:t>
            </a:r>
            <a:r>
              <a:rPr sz="2000" spc="-85" dirty="0">
                <a:solidFill>
                  <a:srgbClr val="404040"/>
                </a:solidFill>
                <a:latin typeface="Calibri"/>
                <a:cs typeface="Calibri"/>
              </a:rPr>
              <a:t> </a:t>
            </a:r>
            <a:r>
              <a:rPr sz="2000" dirty="0">
                <a:solidFill>
                  <a:srgbClr val="404040"/>
                </a:solidFill>
                <a:latin typeface="Calibri"/>
                <a:cs typeface="Calibri"/>
              </a:rPr>
              <a:t>used</a:t>
            </a:r>
            <a:r>
              <a:rPr sz="2000" spc="-75" dirty="0">
                <a:solidFill>
                  <a:srgbClr val="404040"/>
                </a:solidFill>
                <a:latin typeface="Calibri"/>
                <a:cs typeface="Calibri"/>
              </a:rPr>
              <a:t> </a:t>
            </a:r>
            <a:r>
              <a:rPr sz="2000" dirty="0">
                <a:solidFill>
                  <a:srgbClr val="404040"/>
                </a:solidFill>
                <a:latin typeface="Calibri"/>
                <a:cs typeface="Calibri"/>
              </a:rPr>
              <a:t>to</a:t>
            </a:r>
            <a:r>
              <a:rPr sz="2000" spc="-85" dirty="0">
                <a:solidFill>
                  <a:srgbClr val="404040"/>
                </a:solidFill>
                <a:latin typeface="Calibri"/>
                <a:cs typeface="Calibri"/>
              </a:rPr>
              <a:t> </a:t>
            </a:r>
            <a:r>
              <a:rPr sz="2000" spc="-10" dirty="0">
                <a:solidFill>
                  <a:srgbClr val="404040"/>
                </a:solidFill>
                <a:latin typeface="Calibri"/>
                <a:cs typeface="Calibri"/>
              </a:rPr>
              <a:t>analyze</a:t>
            </a:r>
            <a:r>
              <a:rPr sz="2000" spc="-100" dirty="0">
                <a:solidFill>
                  <a:srgbClr val="404040"/>
                </a:solidFill>
                <a:latin typeface="Calibri"/>
                <a:cs typeface="Calibri"/>
              </a:rPr>
              <a:t> </a:t>
            </a:r>
            <a:r>
              <a:rPr sz="2000" spc="-10" dirty="0">
                <a:solidFill>
                  <a:srgbClr val="404040"/>
                </a:solidFill>
                <a:latin typeface="Calibri"/>
                <a:cs typeface="Calibri"/>
              </a:rPr>
              <a:t>shipment</a:t>
            </a:r>
            <a:r>
              <a:rPr sz="2000" spc="-65" dirty="0">
                <a:solidFill>
                  <a:srgbClr val="404040"/>
                </a:solidFill>
                <a:latin typeface="Calibri"/>
                <a:cs typeface="Calibri"/>
              </a:rPr>
              <a:t> </a:t>
            </a:r>
            <a:r>
              <a:rPr sz="2000" spc="-10" dirty="0">
                <a:solidFill>
                  <a:srgbClr val="404040"/>
                </a:solidFill>
                <a:latin typeface="Calibri"/>
                <a:cs typeface="Calibri"/>
              </a:rPr>
              <a:t>delays,</a:t>
            </a:r>
            <a:r>
              <a:rPr sz="2000" spc="-80" dirty="0">
                <a:solidFill>
                  <a:srgbClr val="404040"/>
                </a:solidFill>
                <a:latin typeface="Calibri"/>
                <a:cs typeface="Calibri"/>
              </a:rPr>
              <a:t> </a:t>
            </a:r>
            <a:r>
              <a:rPr sz="2000" dirty="0">
                <a:solidFill>
                  <a:srgbClr val="404040"/>
                </a:solidFill>
                <a:latin typeface="Calibri"/>
                <a:cs typeface="Calibri"/>
              </a:rPr>
              <a:t>delivery</a:t>
            </a:r>
            <a:r>
              <a:rPr sz="2000" spc="-85" dirty="0">
                <a:solidFill>
                  <a:srgbClr val="404040"/>
                </a:solidFill>
                <a:latin typeface="Calibri"/>
                <a:cs typeface="Calibri"/>
              </a:rPr>
              <a:t> </a:t>
            </a:r>
            <a:r>
              <a:rPr sz="2000" dirty="0">
                <a:solidFill>
                  <a:srgbClr val="404040"/>
                </a:solidFill>
                <a:latin typeface="Calibri"/>
                <a:cs typeface="Calibri"/>
              </a:rPr>
              <a:t>risks,</a:t>
            </a:r>
            <a:r>
              <a:rPr sz="2000" spc="-55" dirty="0">
                <a:solidFill>
                  <a:srgbClr val="404040"/>
                </a:solidFill>
                <a:latin typeface="Calibri"/>
                <a:cs typeface="Calibri"/>
              </a:rPr>
              <a:t> </a:t>
            </a:r>
            <a:r>
              <a:rPr sz="2000" dirty="0">
                <a:solidFill>
                  <a:srgbClr val="404040"/>
                </a:solidFill>
                <a:latin typeface="Calibri"/>
                <a:cs typeface="Calibri"/>
              </a:rPr>
              <a:t>and</a:t>
            </a:r>
            <a:r>
              <a:rPr sz="2000" spc="-100" dirty="0">
                <a:solidFill>
                  <a:srgbClr val="404040"/>
                </a:solidFill>
                <a:latin typeface="Calibri"/>
                <a:cs typeface="Calibri"/>
              </a:rPr>
              <a:t> </a:t>
            </a:r>
            <a:r>
              <a:rPr sz="2000" dirty="0">
                <a:solidFill>
                  <a:srgbClr val="404040"/>
                </a:solidFill>
                <a:latin typeface="Calibri"/>
                <a:cs typeface="Calibri"/>
              </a:rPr>
              <a:t>sales</a:t>
            </a:r>
            <a:r>
              <a:rPr sz="2000" spc="-55" dirty="0">
                <a:solidFill>
                  <a:srgbClr val="404040"/>
                </a:solidFill>
                <a:latin typeface="Calibri"/>
                <a:cs typeface="Calibri"/>
              </a:rPr>
              <a:t> </a:t>
            </a:r>
            <a:r>
              <a:rPr sz="2000" spc="-10" dirty="0">
                <a:solidFill>
                  <a:srgbClr val="404040"/>
                </a:solidFill>
                <a:latin typeface="Calibri"/>
                <a:cs typeface="Calibri"/>
              </a:rPr>
              <a:t>performance.</a:t>
            </a:r>
            <a:endParaRPr sz="2000">
              <a:latin typeface="Calibri"/>
              <a:cs typeface="Calibri"/>
            </a:endParaRPr>
          </a:p>
        </p:txBody>
      </p:sp>
      <p:sp>
        <p:nvSpPr>
          <p:cNvPr id="4" name="object 4"/>
          <p:cNvSpPr txBox="1"/>
          <p:nvPr/>
        </p:nvSpPr>
        <p:spPr>
          <a:xfrm>
            <a:off x="1163319" y="3657092"/>
            <a:ext cx="5226685" cy="1379220"/>
          </a:xfrm>
          <a:prstGeom prst="rect">
            <a:avLst/>
          </a:prstGeom>
        </p:spPr>
        <p:txBody>
          <a:bodyPr vert="horz" wrap="square" lIns="0" tIns="12700" rIns="0" bIns="0" rtlCol="0">
            <a:spAutoFit/>
          </a:bodyPr>
          <a:lstStyle/>
          <a:p>
            <a:pPr marL="297815" indent="-285115">
              <a:lnSpc>
                <a:spcPts val="2125"/>
              </a:lnSpc>
              <a:spcBef>
                <a:spcPts val="100"/>
              </a:spcBef>
              <a:buChar char="•"/>
              <a:tabLst>
                <a:tab pos="297815" algn="l"/>
              </a:tabLst>
            </a:pPr>
            <a:r>
              <a:rPr sz="1800" dirty="0">
                <a:latin typeface="Arial MT"/>
                <a:cs typeface="Arial MT"/>
              </a:rPr>
              <a:t>Dataset</a:t>
            </a:r>
            <a:r>
              <a:rPr sz="1800" spc="-30" dirty="0">
                <a:latin typeface="Arial MT"/>
                <a:cs typeface="Arial MT"/>
              </a:rPr>
              <a:t> </a:t>
            </a:r>
            <a:r>
              <a:rPr sz="1800" spc="-10" dirty="0">
                <a:latin typeface="Arial MT"/>
                <a:cs typeface="Arial MT"/>
              </a:rPr>
              <a:t>Information</a:t>
            </a:r>
            <a:endParaRPr sz="1800">
              <a:latin typeface="Arial MT"/>
              <a:cs typeface="Arial MT"/>
            </a:endParaRPr>
          </a:p>
          <a:p>
            <a:pPr marL="297815" indent="-285115">
              <a:lnSpc>
                <a:spcPts val="2100"/>
              </a:lnSpc>
              <a:buChar char="•"/>
              <a:tabLst>
                <a:tab pos="297815" algn="l"/>
              </a:tabLst>
            </a:pPr>
            <a:r>
              <a:rPr sz="1800" dirty="0">
                <a:latin typeface="Arial MT"/>
                <a:cs typeface="Arial MT"/>
              </a:rPr>
              <a:t>Total</a:t>
            </a:r>
            <a:r>
              <a:rPr sz="1800" spc="-30" dirty="0">
                <a:latin typeface="Arial MT"/>
                <a:cs typeface="Arial MT"/>
              </a:rPr>
              <a:t> </a:t>
            </a:r>
            <a:r>
              <a:rPr sz="1800" dirty="0">
                <a:latin typeface="Arial MT"/>
                <a:cs typeface="Arial MT"/>
              </a:rPr>
              <a:t>Records:</a:t>
            </a:r>
            <a:r>
              <a:rPr sz="1800" spc="-35" dirty="0">
                <a:latin typeface="Arial MT"/>
                <a:cs typeface="Arial MT"/>
              </a:rPr>
              <a:t> </a:t>
            </a:r>
            <a:r>
              <a:rPr sz="1800" spc="-20" dirty="0">
                <a:latin typeface="Arial MT"/>
                <a:cs typeface="Arial MT"/>
              </a:rPr>
              <a:t>5,000</a:t>
            </a:r>
            <a:endParaRPr sz="1800">
              <a:latin typeface="Arial MT"/>
              <a:cs typeface="Arial MT"/>
            </a:endParaRPr>
          </a:p>
          <a:p>
            <a:pPr marL="297815" indent="-285115">
              <a:lnSpc>
                <a:spcPts val="2135"/>
              </a:lnSpc>
              <a:buChar char="•"/>
              <a:tabLst>
                <a:tab pos="297815" algn="l"/>
              </a:tabLst>
            </a:pPr>
            <a:r>
              <a:rPr sz="1800" dirty="0">
                <a:latin typeface="Arial MT"/>
                <a:cs typeface="Arial MT"/>
              </a:rPr>
              <a:t>Total</a:t>
            </a:r>
            <a:r>
              <a:rPr sz="1800" spc="-60" dirty="0">
                <a:latin typeface="Arial MT"/>
                <a:cs typeface="Arial MT"/>
              </a:rPr>
              <a:t> </a:t>
            </a:r>
            <a:r>
              <a:rPr sz="1800" dirty="0">
                <a:latin typeface="Arial MT"/>
                <a:cs typeface="Arial MT"/>
              </a:rPr>
              <a:t>Features</a:t>
            </a:r>
            <a:r>
              <a:rPr sz="1800" spc="-50" dirty="0">
                <a:latin typeface="Arial MT"/>
                <a:cs typeface="Arial MT"/>
              </a:rPr>
              <a:t> </a:t>
            </a:r>
            <a:r>
              <a:rPr sz="1800" dirty="0">
                <a:latin typeface="Arial MT"/>
                <a:cs typeface="Arial MT"/>
              </a:rPr>
              <a:t>(Columns):</a:t>
            </a:r>
            <a:r>
              <a:rPr sz="1800" spc="-50" dirty="0">
                <a:latin typeface="Arial MT"/>
                <a:cs typeface="Arial MT"/>
              </a:rPr>
              <a:t> </a:t>
            </a:r>
            <a:r>
              <a:rPr sz="1800" spc="-25" dirty="0">
                <a:latin typeface="Arial MT"/>
                <a:cs typeface="Arial MT"/>
              </a:rPr>
              <a:t>31</a:t>
            </a:r>
            <a:endParaRPr sz="1800">
              <a:latin typeface="Arial MT"/>
              <a:cs typeface="Arial MT"/>
            </a:endParaRPr>
          </a:p>
          <a:p>
            <a:pPr marL="297815" indent="-285115">
              <a:lnSpc>
                <a:spcPts val="2135"/>
              </a:lnSpc>
              <a:spcBef>
                <a:spcPts val="20"/>
              </a:spcBef>
              <a:buChar char="•"/>
              <a:tabLst>
                <a:tab pos="297815" algn="l"/>
              </a:tabLst>
            </a:pPr>
            <a:r>
              <a:rPr sz="1800" dirty="0">
                <a:latin typeface="Arial MT"/>
                <a:cs typeface="Arial MT"/>
              </a:rPr>
              <a:t>Data</a:t>
            </a:r>
            <a:r>
              <a:rPr sz="1800" spc="-30" dirty="0">
                <a:latin typeface="Arial MT"/>
                <a:cs typeface="Arial MT"/>
              </a:rPr>
              <a:t> </a:t>
            </a:r>
            <a:r>
              <a:rPr sz="1800" dirty="0">
                <a:latin typeface="Arial MT"/>
                <a:cs typeface="Arial MT"/>
              </a:rPr>
              <a:t>Types:</a:t>
            </a:r>
            <a:r>
              <a:rPr sz="1800" spc="-30" dirty="0">
                <a:latin typeface="Arial MT"/>
                <a:cs typeface="Arial MT"/>
              </a:rPr>
              <a:t> </a:t>
            </a:r>
            <a:r>
              <a:rPr sz="1800" dirty="0">
                <a:latin typeface="Arial MT"/>
                <a:cs typeface="Arial MT"/>
              </a:rPr>
              <a:t>Integer,</a:t>
            </a:r>
            <a:r>
              <a:rPr sz="1800" spc="-25" dirty="0">
                <a:latin typeface="Arial MT"/>
                <a:cs typeface="Arial MT"/>
              </a:rPr>
              <a:t> </a:t>
            </a:r>
            <a:r>
              <a:rPr sz="1800" dirty="0">
                <a:latin typeface="Arial MT"/>
                <a:cs typeface="Arial MT"/>
              </a:rPr>
              <a:t>Float,</a:t>
            </a:r>
            <a:r>
              <a:rPr sz="1800" spc="-30" dirty="0">
                <a:latin typeface="Arial MT"/>
                <a:cs typeface="Arial MT"/>
              </a:rPr>
              <a:t> </a:t>
            </a:r>
            <a:r>
              <a:rPr sz="1800" dirty="0">
                <a:latin typeface="Arial MT"/>
                <a:cs typeface="Arial MT"/>
              </a:rPr>
              <a:t>Object,</a:t>
            </a:r>
            <a:r>
              <a:rPr sz="1800" spc="-25" dirty="0">
                <a:latin typeface="Arial MT"/>
                <a:cs typeface="Arial MT"/>
              </a:rPr>
              <a:t> </a:t>
            </a:r>
            <a:r>
              <a:rPr sz="1800" dirty="0">
                <a:latin typeface="Arial MT"/>
                <a:cs typeface="Arial MT"/>
              </a:rPr>
              <a:t>and</a:t>
            </a:r>
            <a:r>
              <a:rPr sz="1800" spc="-30" dirty="0">
                <a:latin typeface="Arial MT"/>
                <a:cs typeface="Arial MT"/>
              </a:rPr>
              <a:t> </a:t>
            </a:r>
            <a:r>
              <a:rPr sz="1800" spc="-10" dirty="0">
                <a:latin typeface="Arial MT"/>
                <a:cs typeface="Arial MT"/>
              </a:rPr>
              <a:t>Datetime</a:t>
            </a:r>
            <a:endParaRPr sz="1800">
              <a:latin typeface="Arial MT"/>
              <a:cs typeface="Arial MT"/>
            </a:endParaRPr>
          </a:p>
          <a:p>
            <a:pPr marL="297815" indent="-285115">
              <a:lnSpc>
                <a:spcPts val="2135"/>
              </a:lnSpc>
              <a:buChar char="•"/>
              <a:tabLst>
                <a:tab pos="297815" algn="l"/>
              </a:tabLst>
            </a:pPr>
            <a:r>
              <a:rPr sz="1800" dirty="0">
                <a:latin typeface="Arial MT"/>
                <a:cs typeface="Arial MT"/>
              </a:rPr>
              <a:t>Dataset</a:t>
            </a:r>
            <a:r>
              <a:rPr sz="1800" spc="-35" dirty="0">
                <a:latin typeface="Arial MT"/>
                <a:cs typeface="Arial MT"/>
              </a:rPr>
              <a:t> </a:t>
            </a:r>
            <a:r>
              <a:rPr sz="1800" dirty="0">
                <a:latin typeface="Arial MT"/>
                <a:cs typeface="Arial MT"/>
              </a:rPr>
              <a:t>Type:</a:t>
            </a:r>
            <a:r>
              <a:rPr sz="1800" spc="-30" dirty="0">
                <a:latin typeface="Arial MT"/>
                <a:cs typeface="Arial MT"/>
              </a:rPr>
              <a:t> </a:t>
            </a:r>
            <a:r>
              <a:rPr sz="1800" dirty="0">
                <a:latin typeface="Arial MT"/>
                <a:cs typeface="Arial MT"/>
              </a:rPr>
              <a:t>Structured</a:t>
            </a:r>
            <a:r>
              <a:rPr sz="1800" spc="-30" dirty="0">
                <a:latin typeface="Arial MT"/>
                <a:cs typeface="Arial MT"/>
              </a:rPr>
              <a:t> </a:t>
            </a:r>
            <a:r>
              <a:rPr sz="1800" dirty="0">
                <a:latin typeface="Arial MT"/>
                <a:cs typeface="Arial MT"/>
              </a:rPr>
              <a:t>Data</a:t>
            </a:r>
            <a:r>
              <a:rPr sz="1800" spc="-30" dirty="0">
                <a:latin typeface="Arial MT"/>
                <a:cs typeface="Arial MT"/>
              </a:rPr>
              <a:t> </a:t>
            </a:r>
            <a:r>
              <a:rPr sz="1800" spc="-10" dirty="0">
                <a:latin typeface="Arial MT"/>
                <a:cs typeface="Arial MT"/>
              </a:rPr>
              <a:t>(CSV)</a:t>
            </a:r>
            <a:endParaRPr sz="18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28773" rIns="0" bIns="0" rtlCol="0">
            <a:spAutoFit/>
          </a:bodyPr>
          <a:lstStyle/>
          <a:p>
            <a:pPr marL="2511425">
              <a:lnSpc>
                <a:spcPct val="100000"/>
              </a:lnSpc>
              <a:spcBef>
                <a:spcPts val="105"/>
              </a:spcBef>
            </a:pPr>
            <a:r>
              <a:rPr sz="4700" spc="-80" dirty="0"/>
              <a:t>Data</a:t>
            </a:r>
            <a:r>
              <a:rPr sz="4700" spc="-305" dirty="0"/>
              <a:t> </a:t>
            </a:r>
            <a:r>
              <a:rPr sz="4700" spc="-65" dirty="0"/>
              <a:t>collection</a:t>
            </a:r>
            <a:endParaRPr sz="4700"/>
          </a:p>
        </p:txBody>
      </p:sp>
      <p:pic>
        <p:nvPicPr>
          <p:cNvPr id="3" name="object 3"/>
          <p:cNvPicPr/>
          <p:nvPr/>
        </p:nvPicPr>
        <p:blipFill>
          <a:blip r:embed="rId2" cstate="print"/>
          <a:stretch>
            <a:fillRect/>
          </a:stretch>
        </p:blipFill>
        <p:spPr>
          <a:xfrm>
            <a:off x="2133600" y="2133600"/>
            <a:ext cx="8001000" cy="37337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0211" rIns="0" bIns="0" rtlCol="0">
            <a:spAutoFit/>
          </a:bodyPr>
          <a:lstStyle/>
          <a:p>
            <a:pPr marL="2762885">
              <a:lnSpc>
                <a:spcPct val="100000"/>
              </a:lnSpc>
              <a:spcBef>
                <a:spcPts val="120"/>
              </a:spcBef>
            </a:pPr>
            <a:r>
              <a:rPr sz="4000" spc="-70" dirty="0"/>
              <a:t>Data</a:t>
            </a:r>
            <a:r>
              <a:rPr sz="4000" spc="-235" dirty="0"/>
              <a:t> </a:t>
            </a:r>
            <a:r>
              <a:rPr sz="4000" spc="-55" dirty="0"/>
              <a:t>Reduction</a:t>
            </a:r>
            <a:endParaRPr sz="4000"/>
          </a:p>
        </p:txBody>
      </p:sp>
      <p:pic>
        <p:nvPicPr>
          <p:cNvPr id="3" name="object 3"/>
          <p:cNvPicPr/>
          <p:nvPr/>
        </p:nvPicPr>
        <p:blipFill>
          <a:blip r:embed="rId2" cstate="print"/>
          <a:stretch>
            <a:fillRect/>
          </a:stretch>
        </p:blipFill>
        <p:spPr>
          <a:xfrm>
            <a:off x="2360023" y="2037806"/>
            <a:ext cx="7772400" cy="35074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839847" y="526717"/>
            <a:ext cx="7992745" cy="593725"/>
          </a:xfrm>
          <a:prstGeom prst="rect">
            <a:avLst/>
          </a:prstGeom>
        </p:spPr>
        <p:txBody>
          <a:bodyPr vert="horz" wrap="square" lIns="0" tIns="15875" rIns="0" bIns="0" rtlCol="0">
            <a:spAutoFit/>
          </a:bodyPr>
          <a:lstStyle/>
          <a:p>
            <a:pPr marL="12700">
              <a:lnSpc>
                <a:spcPct val="100000"/>
              </a:lnSpc>
              <a:spcBef>
                <a:spcPts val="125"/>
              </a:spcBef>
            </a:pPr>
            <a:r>
              <a:rPr sz="3700" spc="-180" dirty="0"/>
              <a:t>DATA</a:t>
            </a:r>
            <a:r>
              <a:rPr sz="3700" spc="-370" dirty="0"/>
              <a:t> </a:t>
            </a:r>
            <a:r>
              <a:rPr sz="3700" spc="-95" dirty="0"/>
              <a:t>PREPROCESSING</a:t>
            </a:r>
            <a:r>
              <a:rPr sz="3700" spc="-229" dirty="0"/>
              <a:t> </a:t>
            </a:r>
            <a:r>
              <a:rPr sz="3700" spc="-40" dirty="0"/>
              <a:t>AND</a:t>
            </a:r>
            <a:r>
              <a:rPr sz="3700" spc="-180" dirty="0"/>
              <a:t> DATA</a:t>
            </a:r>
            <a:r>
              <a:rPr sz="3700" spc="-370" dirty="0"/>
              <a:t> </a:t>
            </a:r>
            <a:r>
              <a:rPr sz="3700" spc="-10" dirty="0"/>
              <a:t>CLEANING</a:t>
            </a:r>
            <a:endParaRPr sz="3700"/>
          </a:p>
        </p:txBody>
      </p:sp>
      <p:sp>
        <p:nvSpPr>
          <p:cNvPr id="3" name="object 3"/>
          <p:cNvSpPr txBox="1"/>
          <p:nvPr/>
        </p:nvSpPr>
        <p:spPr>
          <a:xfrm>
            <a:off x="1001394" y="1431035"/>
            <a:ext cx="8741410" cy="1775460"/>
          </a:xfrm>
          <a:prstGeom prst="rect">
            <a:avLst/>
          </a:prstGeom>
        </p:spPr>
        <p:txBody>
          <a:bodyPr vert="horz" wrap="square" lIns="0" tIns="12700" rIns="0" bIns="0" rtlCol="0">
            <a:spAutoFit/>
          </a:bodyPr>
          <a:lstStyle/>
          <a:p>
            <a:pPr marL="247650" indent="-226695">
              <a:lnSpc>
                <a:spcPct val="100000"/>
              </a:lnSpc>
              <a:spcBef>
                <a:spcPts val="100"/>
              </a:spcBef>
              <a:buClr>
                <a:srgbClr val="E38312"/>
              </a:buClr>
              <a:buSzPct val="92857"/>
              <a:buFont typeface="Wingdings"/>
              <a:buChar char=""/>
              <a:tabLst>
                <a:tab pos="247650" algn="l"/>
              </a:tabLst>
            </a:pPr>
            <a:r>
              <a:rPr sz="1400" b="1" dirty="0">
                <a:solidFill>
                  <a:srgbClr val="404040"/>
                </a:solidFill>
                <a:latin typeface="Calibri"/>
                <a:cs typeface="Calibri"/>
              </a:rPr>
              <a:t>Data</a:t>
            </a:r>
            <a:r>
              <a:rPr sz="1400" b="1" spc="-15" dirty="0">
                <a:solidFill>
                  <a:srgbClr val="404040"/>
                </a:solidFill>
                <a:latin typeface="Calibri"/>
                <a:cs typeface="Calibri"/>
              </a:rPr>
              <a:t> </a:t>
            </a:r>
            <a:r>
              <a:rPr sz="1400" b="1" spc="-20" dirty="0">
                <a:solidFill>
                  <a:srgbClr val="404040"/>
                </a:solidFill>
                <a:latin typeface="Calibri"/>
                <a:cs typeface="Calibri"/>
              </a:rPr>
              <a:t>Preprocessing</a:t>
            </a:r>
            <a:r>
              <a:rPr sz="1400" b="1" spc="-30" dirty="0">
                <a:solidFill>
                  <a:srgbClr val="404040"/>
                </a:solidFill>
                <a:latin typeface="Calibri"/>
                <a:cs typeface="Calibri"/>
              </a:rPr>
              <a:t> </a:t>
            </a:r>
            <a:r>
              <a:rPr sz="1400" b="1" spc="-50" dirty="0">
                <a:solidFill>
                  <a:srgbClr val="404040"/>
                </a:solidFill>
                <a:latin typeface="Calibri"/>
                <a:cs typeface="Calibri"/>
              </a:rPr>
              <a:t>:</a:t>
            </a:r>
            <a:endParaRPr sz="1400">
              <a:latin typeface="Calibri"/>
              <a:cs typeface="Calibri"/>
            </a:endParaRPr>
          </a:p>
          <a:p>
            <a:pPr marL="113030" marR="1935480" indent="-99695">
              <a:lnSpc>
                <a:spcPct val="137100"/>
              </a:lnSpc>
              <a:spcBef>
                <a:spcPts val="985"/>
              </a:spcBef>
              <a:buSzPct val="92857"/>
              <a:buFont typeface="Wingdings"/>
              <a:buChar char=""/>
              <a:tabLst>
                <a:tab pos="113030" algn="l"/>
                <a:tab pos="136525" algn="l"/>
              </a:tabLst>
            </a:pPr>
            <a:r>
              <a:rPr sz="1400" dirty="0">
                <a:solidFill>
                  <a:srgbClr val="E38312"/>
                </a:solidFill>
                <a:latin typeface="Calibri"/>
                <a:cs typeface="Calibri"/>
              </a:rPr>
              <a:t>	</a:t>
            </a:r>
            <a:r>
              <a:rPr sz="1400" dirty="0">
                <a:solidFill>
                  <a:srgbClr val="404040"/>
                </a:solidFill>
                <a:latin typeface="Calibri"/>
                <a:cs typeface="Calibri"/>
              </a:rPr>
              <a:t>Data</a:t>
            </a:r>
            <a:r>
              <a:rPr sz="1400" spc="-40" dirty="0">
                <a:solidFill>
                  <a:srgbClr val="404040"/>
                </a:solidFill>
                <a:latin typeface="Calibri"/>
                <a:cs typeface="Calibri"/>
              </a:rPr>
              <a:t> </a:t>
            </a:r>
            <a:r>
              <a:rPr sz="1400" spc="-20" dirty="0">
                <a:solidFill>
                  <a:srgbClr val="404040"/>
                </a:solidFill>
                <a:latin typeface="Calibri"/>
                <a:cs typeface="Calibri"/>
              </a:rPr>
              <a:t>preprocessing</a:t>
            </a:r>
            <a:r>
              <a:rPr sz="1400" spc="-55" dirty="0">
                <a:solidFill>
                  <a:srgbClr val="404040"/>
                </a:solidFill>
                <a:latin typeface="Calibri"/>
                <a:cs typeface="Calibri"/>
              </a:rPr>
              <a:t> </a:t>
            </a:r>
            <a:r>
              <a:rPr sz="1400" dirty="0">
                <a:solidFill>
                  <a:srgbClr val="404040"/>
                </a:solidFill>
                <a:latin typeface="Calibri"/>
                <a:cs typeface="Calibri"/>
              </a:rPr>
              <a:t>is</a:t>
            </a:r>
            <a:r>
              <a:rPr sz="1400" spc="-40" dirty="0">
                <a:solidFill>
                  <a:srgbClr val="404040"/>
                </a:solidFill>
                <a:latin typeface="Calibri"/>
                <a:cs typeface="Calibri"/>
              </a:rPr>
              <a:t> </a:t>
            </a:r>
            <a:r>
              <a:rPr sz="1400" dirty="0">
                <a:solidFill>
                  <a:srgbClr val="404040"/>
                </a:solidFill>
                <a:latin typeface="Calibri"/>
                <a:cs typeface="Calibri"/>
              </a:rPr>
              <a:t>the</a:t>
            </a:r>
            <a:r>
              <a:rPr sz="1400" spc="-35" dirty="0">
                <a:solidFill>
                  <a:srgbClr val="404040"/>
                </a:solidFill>
                <a:latin typeface="Calibri"/>
                <a:cs typeface="Calibri"/>
              </a:rPr>
              <a:t> </a:t>
            </a:r>
            <a:r>
              <a:rPr sz="1400" spc="-10" dirty="0">
                <a:solidFill>
                  <a:srgbClr val="404040"/>
                </a:solidFill>
                <a:latin typeface="Calibri"/>
                <a:cs typeface="Calibri"/>
              </a:rPr>
              <a:t>process</a:t>
            </a:r>
            <a:r>
              <a:rPr sz="1400" spc="-40" dirty="0">
                <a:solidFill>
                  <a:srgbClr val="404040"/>
                </a:solidFill>
                <a:latin typeface="Calibri"/>
                <a:cs typeface="Calibri"/>
              </a:rPr>
              <a:t> </a:t>
            </a:r>
            <a:r>
              <a:rPr sz="1400" dirty="0">
                <a:solidFill>
                  <a:srgbClr val="404040"/>
                </a:solidFill>
                <a:latin typeface="Calibri"/>
                <a:cs typeface="Calibri"/>
              </a:rPr>
              <a:t>of</a:t>
            </a:r>
            <a:r>
              <a:rPr sz="1400" spc="-60" dirty="0">
                <a:solidFill>
                  <a:srgbClr val="404040"/>
                </a:solidFill>
                <a:latin typeface="Calibri"/>
                <a:cs typeface="Calibri"/>
              </a:rPr>
              <a:t> </a:t>
            </a:r>
            <a:r>
              <a:rPr sz="1400" spc="-10" dirty="0">
                <a:solidFill>
                  <a:srgbClr val="404040"/>
                </a:solidFill>
                <a:latin typeface="Calibri"/>
                <a:cs typeface="Calibri"/>
              </a:rPr>
              <a:t>cleaning</a:t>
            </a:r>
            <a:r>
              <a:rPr sz="1400" spc="-40" dirty="0">
                <a:solidFill>
                  <a:srgbClr val="404040"/>
                </a:solidFill>
                <a:latin typeface="Calibri"/>
                <a:cs typeface="Calibri"/>
              </a:rPr>
              <a:t> </a:t>
            </a:r>
            <a:r>
              <a:rPr sz="1400" dirty="0">
                <a:solidFill>
                  <a:srgbClr val="404040"/>
                </a:solidFill>
                <a:latin typeface="Calibri"/>
                <a:cs typeface="Calibri"/>
              </a:rPr>
              <a:t>and</a:t>
            </a:r>
            <a:r>
              <a:rPr sz="1400" spc="-45" dirty="0">
                <a:solidFill>
                  <a:srgbClr val="404040"/>
                </a:solidFill>
                <a:latin typeface="Calibri"/>
                <a:cs typeface="Calibri"/>
              </a:rPr>
              <a:t> </a:t>
            </a:r>
            <a:r>
              <a:rPr sz="1400" spc="-20" dirty="0">
                <a:solidFill>
                  <a:srgbClr val="404040"/>
                </a:solidFill>
                <a:latin typeface="Calibri"/>
                <a:cs typeface="Calibri"/>
              </a:rPr>
              <a:t>transforming</a:t>
            </a:r>
            <a:r>
              <a:rPr sz="1400" spc="-50" dirty="0">
                <a:solidFill>
                  <a:srgbClr val="404040"/>
                </a:solidFill>
                <a:latin typeface="Calibri"/>
                <a:cs typeface="Calibri"/>
              </a:rPr>
              <a:t> </a:t>
            </a:r>
            <a:r>
              <a:rPr sz="1400" dirty="0">
                <a:solidFill>
                  <a:srgbClr val="404040"/>
                </a:solidFill>
                <a:latin typeface="Calibri"/>
                <a:cs typeface="Calibri"/>
              </a:rPr>
              <a:t>raw</a:t>
            </a:r>
            <a:r>
              <a:rPr sz="1400" spc="-40" dirty="0">
                <a:solidFill>
                  <a:srgbClr val="404040"/>
                </a:solidFill>
                <a:latin typeface="Calibri"/>
                <a:cs typeface="Calibri"/>
              </a:rPr>
              <a:t> </a:t>
            </a:r>
            <a:r>
              <a:rPr sz="1400" dirty="0">
                <a:solidFill>
                  <a:srgbClr val="404040"/>
                </a:solidFill>
                <a:latin typeface="Calibri"/>
                <a:cs typeface="Calibri"/>
              </a:rPr>
              <a:t>data</a:t>
            </a:r>
            <a:r>
              <a:rPr sz="1400" spc="-40" dirty="0">
                <a:solidFill>
                  <a:srgbClr val="404040"/>
                </a:solidFill>
                <a:latin typeface="Calibri"/>
                <a:cs typeface="Calibri"/>
              </a:rPr>
              <a:t> </a:t>
            </a:r>
            <a:r>
              <a:rPr sz="1400" dirty="0">
                <a:solidFill>
                  <a:srgbClr val="404040"/>
                </a:solidFill>
                <a:latin typeface="Calibri"/>
                <a:cs typeface="Calibri"/>
              </a:rPr>
              <a:t>into</a:t>
            </a:r>
            <a:r>
              <a:rPr sz="1400" spc="-45" dirty="0">
                <a:solidFill>
                  <a:srgbClr val="404040"/>
                </a:solidFill>
                <a:latin typeface="Calibri"/>
                <a:cs typeface="Calibri"/>
              </a:rPr>
              <a:t> </a:t>
            </a:r>
            <a:r>
              <a:rPr sz="1400" dirty="0">
                <a:solidFill>
                  <a:srgbClr val="404040"/>
                </a:solidFill>
                <a:latin typeface="Calibri"/>
                <a:cs typeface="Calibri"/>
              </a:rPr>
              <a:t>a</a:t>
            </a:r>
            <a:r>
              <a:rPr sz="1400" spc="-40" dirty="0">
                <a:solidFill>
                  <a:srgbClr val="404040"/>
                </a:solidFill>
                <a:latin typeface="Calibri"/>
                <a:cs typeface="Calibri"/>
              </a:rPr>
              <a:t> </a:t>
            </a:r>
            <a:r>
              <a:rPr sz="1400" spc="-20" dirty="0">
                <a:solidFill>
                  <a:srgbClr val="404040"/>
                </a:solidFill>
                <a:latin typeface="Calibri"/>
                <a:cs typeface="Calibri"/>
              </a:rPr>
              <a:t>structured</a:t>
            </a:r>
            <a:r>
              <a:rPr sz="1400" spc="-55" dirty="0">
                <a:solidFill>
                  <a:srgbClr val="404040"/>
                </a:solidFill>
                <a:latin typeface="Calibri"/>
                <a:cs typeface="Calibri"/>
              </a:rPr>
              <a:t> </a:t>
            </a:r>
            <a:r>
              <a:rPr sz="1400" spc="-25" dirty="0">
                <a:solidFill>
                  <a:srgbClr val="404040"/>
                </a:solidFill>
                <a:latin typeface="Calibri"/>
                <a:cs typeface="Calibri"/>
              </a:rPr>
              <a:t>and </a:t>
            </a:r>
            <a:r>
              <a:rPr sz="1400" spc="-10" dirty="0">
                <a:solidFill>
                  <a:srgbClr val="404040"/>
                </a:solidFill>
                <a:latin typeface="Calibri"/>
                <a:cs typeface="Calibri"/>
              </a:rPr>
              <a:t>usable</a:t>
            </a:r>
            <a:r>
              <a:rPr sz="1400" spc="-50" dirty="0">
                <a:solidFill>
                  <a:srgbClr val="404040"/>
                </a:solidFill>
                <a:latin typeface="Calibri"/>
                <a:cs typeface="Calibri"/>
              </a:rPr>
              <a:t> </a:t>
            </a:r>
            <a:r>
              <a:rPr sz="1400" spc="-10" dirty="0">
                <a:solidFill>
                  <a:srgbClr val="404040"/>
                </a:solidFill>
                <a:latin typeface="Calibri"/>
                <a:cs typeface="Calibri"/>
              </a:rPr>
              <a:t>format</a:t>
            </a:r>
            <a:r>
              <a:rPr sz="1400" spc="-25" dirty="0">
                <a:solidFill>
                  <a:srgbClr val="404040"/>
                </a:solidFill>
                <a:latin typeface="Calibri"/>
                <a:cs typeface="Calibri"/>
              </a:rPr>
              <a:t> </a:t>
            </a:r>
            <a:r>
              <a:rPr sz="1400" spc="-10" dirty="0">
                <a:solidFill>
                  <a:srgbClr val="404040"/>
                </a:solidFill>
                <a:latin typeface="Calibri"/>
                <a:cs typeface="Calibri"/>
              </a:rPr>
              <a:t>for</a:t>
            </a:r>
            <a:r>
              <a:rPr sz="1400" spc="-50" dirty="0">
                <a:solidFill>
                  <a:srgbClr val="404040"/>
                </a:solidFill>
                <a:latin typeface="Calibri"/>
                <a:cs typeface="Calibri"/>
              </a:rPr>
              <a:t> </a:t>
            </a:r>
            <a:r>
              <a:rPr sz="1400" spc="-20" dirty="0">
                <a:solidFill>
                  <a:srgbClr val="404040"/>
                </a:solidFill>
                <a:latin typeface="Calibri"/>
                <a:cs typeface="Calibri"/>
              </a:rPr>
              <a:t>accurate</a:t>
            </a:r>
            <a:r>
              <a:rPr sz="1400" spc="-35" dirty="0">
                <a:solidFill>
                  <a:srgbClr val="404040"/>
                </a:solidFill>
                <a:latin typeface="Calibri"/>
                <a:cs typeface="Calibri"/>
              </a:rPr>
              <a:t> </a:t>
            </a:r>
            <a:r>
              <a:rPr sz="1400" spc="-10" dirty="0">
                <a:solidFill>
                  <a:srgbClr val="404040"/>
                </a:solidFill>
                <a:latin typeface="Calibri"/>
                <a:cs typeface="Calibri"/>
              </a:rPr>
              <a:t>analysis.</a:t>
            </a:r>
            <a:endParaRPr sz="1400">
              <a:latin typeface="Calibri"/>
              <a:cs typeface="Calibri"/>
            </a:endParaRPr>
          </a:p>
          <a:p>
            <a:pPr marL="247650" indent="-226695">
              <a:lnSpc>
                <a:spcPct val="100000"/>
              </a:lnSpc>
              <a:spcBef>
                <a:spcPts val="1415"/>
              </a:spcBef>
              <a:buClr>
                <a:srgbClr val="E38312"/>
              </a:buClr>
              <a:buSzPct val="92857"/>
              <a:buFont typeface="Wingdings"/>
              <a:buChar char=""/>
              <a:tabLst>
                <a:tab pos="247650" algn="l"/>
              </a:tabLst>
            </a:pPr>
            <a:r>
              <a:rPr sz="1400" b="1" spc="-10" dirty="0">
                <a:solidFill>
                  <a:srgbClr val="404040"/>
                </a:solidFill>
                <a:latin typeface="Calibri"/>
                <a:cs typeface="Calibri"/>
              </a:rPr>
              <a:t>Data</a:t>
            </a:r>
            <a:r>
              <a:rPr sz="1400" b="1" spc="-50" dirty="0">
                <a:solidFill>
                  <a:srgbClr val="404040"/>
                </a:solidFill>
                <a:latin typeface="Calibri"/>
                <a:cs typeface="Calibri"/>
              </a:rPr>
              <a:t> </a:t>
            </a:r>
            <a:r>
              <a:rPr sz="1400" b="1" spc="-10" dirty="0">
                <a:solidFill>
                  <a:srgbClr val="404040"/>
                </a:solidFill>
                <a:latin typeface="Calibri"/>
                <a:cs typeface="Calibri"/>
              </a:rPr>
              <a:t>Cleaning:</a:t>
            </a:r>
            <a:endParaRPr sz="1400">
              <a:latin typeface="Calibri"/>
              <a:cs typeface="Calibri"/>
            </a:endParaRPr>
          </a:p>
          <a:p>
            <a:pPr>
              <a:lnSpc>
                <a:spcPct val="100000"/>
              </a:lnSpc>
              <a:spcBef>
                <a:spcPts val="15"/>
              </a:spcBef>
            </a:pPr>
            <a:endParaRPr sz="1400">
              <a:latin typeface="Calibri"/>
              <a:cs typeface="Calibri"/>
            </a:endParaRPr>
          </a:p>
          <a:p>
            <a:pPr marL="135890" indent="-123189">
              <a:lnSpc>
                <a:spcPct val="100000"/>
              </a:lnSpc>
              <a:spcBef>
                <a:spcPts val="5"/>
              </a:spcBef>
              <a:buClr>
                <a:srgbClr val="E38312"/>
              </a:buClr>
              <a:buSzPct val="92857"/>
              <a:buFont typeface="Wingdings"/>
              <a:buChar char=""/>
              <a:tabLst>
                <a:tab pos="135890" algn="l"/>
              </a:tabLst>
            </a:pPr>
            <a:r>
              <a:rPr sz="1400" dirty="0">
                <a:solidFill>
                  <a:srgbClr val="404040"/>
                </a:solidFill>
                <a:latin typeface="Calibri"/>
                <a:cs typeface="Calibri"/>
              </a:rPr>
              <a:t>Data</a:t>
            </a:r>
            <a:r>
              <a:rPr sz="1400" spc="-30" dirty="0">
                <a:solidFill>
                  <a:srgbClr val="404040"/>
                </a:solidFill>
                <a:latin typeface="Calibri"/>
                <a:cs typeface="Calibri"/>
              </a:rPr>
              <a:t> </a:t>
            </a:r>
            <a:r>
              <a:rPr sz="1400" spc="-10" dirty="0">
                <a:solidFill>
                  <a:srgbClr val="404040"/>
                </a:solidFill>
                <a:latin typeface="Calibri"/>
                <a:cs typeface="Calibri"/>
              </a:rPr>
              <a:t>cleaning</a:t>
            </a:r>
            <a:r>
              <a:rPr sz="1400" spc="-35" dirty="0">
                <a:solidFill>
                  <a:srgbClr val="404040"/>
                </a:solidFill>
                <a:latin typeface="Calibri"/>
                <a:cs typeface="Calibri"/>
              </a:rPr>
              <a:t> </a:t>
            </a:r>
            <a:r>
              <a:rPr sz="1400" dirty="0">
                <a:solidFill>
                  <a:srgbClr val="404040"/>
                </a:solidFill>
                <a:latin typeface="Calibri"/>
                <a:cs typeface="Calibri"/>
              </a:rPr>
              <a:t>is</a:t>
            </a:r>
            <a:r>
              <a:rPr sz="1400" spc="-45" dirty="0">
                <a:solidFill>
                  <a:srgbClr val="404040"/>
                </a:solidFill>
                <a:latin typeface="Calibri"/>
                <a:cs typeface="Calibri"/>
              </a:rPr>
              <a:t> </a:t>
            </a:r>
            <a:r>
              <a:rPr sz="1400" dirty="0">
                <a:solidFill>
                  <a:srgbClr val="404040"/>
                </a:solidFill>
                <a:latin typeface="Calibri"/>
                <a:cs typeface="Calibri"/>
              </a:rPr>
              <a:t>the</a:t>
            </a:r>
            <a:r>
              <a:rPr sz="1400" spc="-25" dirty="0">
                <a:solidFill>
                  <a:srgbClr val="404040"/>
                </a:solidFill>
                <a:latin typeface="Calibri"/>
                <a:cs typeface="Calibri"/>
              </a:rPr>
              <a:t> </a:t>
            </a:r>
            <a:r>
              <a:rPr sz="1400" spc="-10" dirty="0">
                <a:solidFill>
                  <a:srgbClr val="404040"/>
                </a:solidFill>
                <a:latin typeface="Calibri"/>
                <a:cs typeface="Calibri"/>
              </a:rPr>
              <a:t>process</a:t>
            </a:r>
            <a:r>
              <a:rPr sz="1400" spc="-30" dirty="0">
                <a:solidFill>
                  <a:srgbClr val="404040"/>
                </a:solidFill>
                <a:latin typeface="Calibri"/>
                <a:cs typeface="Calibri"/>
              </a:rPr>
              <a:t> </a:t>
            </a:r>
            <a:r>
              <a:rPr sz="1400" dirty="0">
                <a:solidFill>
                  <a:srgbClr val="404040"/>
                </a:solidFill>
                <a:latin typeface="Calibri"/>
                <a:cs typeface="Calibri"/>
              </a:rPr>
              <a:t>of</a:t>
            </a:r>
            <a:r>
              <a:rPr sz="1400" spc="-45" dirty="0">
                <a:solidFill>
                  <a:srgbClr val="404040"/>
                </a:solidFill>
                <a:latin typeface="Calibri"/>
                <a:cs typeface="Calibri"/>
              </a:rPr>
              <a:t> </a:t>
            </a:r>
            <a:r>
              <a:rPr sz="1400" spc="-10" dirty="0">
                <a:solidFill>
                  <a:srgbClr val="404040"/>
                </a:solidFill>
                <a:latin typeface="Calibri"/>
                <a:cs typeface="Calibri"/>
              </a:rPr>
              <a:t>identifying</a:t>
            </a:r>
            <a:r>
              <a:rPr sz="1400" spc="-45" dirty="0">
                <a:solidFill>
                  <a:srgbClr val="404040"/>
                </a:solidFill>
                <a:latin typeface="Calibri"/>
                <a:cs typeface="Calibri"/>
              </a:rPr>
              <a:t> </a:t>
            </a:r>
            <a:r>
              <a:rPr sz="1400" dirty="0">
                <a:solidFill>
                  <a:srgbClr val="404040"/>
                </a:solidFill>
                <a:latin typeface="Calibri"/>
                <a:cs typeface="Calibri"/>
              </a:rPr>
              <a:t>and</a:t>
            </a:r>
            <a:r>
              <a:rPr sz="1400" spc="-40" dirty="0">
                <a:solidFill>
                  <a:srgbClr val="404040"/>
                </a:solidFill>
                <a:latin typeface="Calibri"/>
                <a:cs typeface="Calibri"/>
              </a:rPr>
              <a:t> </a:t>
            </a:r>
            <a:r>
              <a:rPr sz="1400" spc="-10" dirty="0">
                <a:solidFill>
                  <a:srgbClr val="404040"/>
                </a:solidFill>
                <a:latin typeface="Calibri"/>
                <a:cs typeface="Calibri"/>
              </a:rPr>
              <a:t>correcting</a:t>
            </a:r>
            <a:r>
              <a:rPr sz="1400" spc="-35" dirty="0">
                <a:solidFill>
                  <a:srgbClr val="404040"/>
                </a:solidFill>
                <a:latin typeface="Calibri"/>
                <a:cs typeface="Calibri"/>
              </a:rPr>
              <a:t> </a:t>
            </a:r>
            <a:r>
              <a:rPr sz="1400" spc="-10" dirty="0">
                <a:solidFill>
                  <a:srgbClr val="404040"/>
                </a:solidFill>
                <a:latin typeface="Calibri"/>
                <a:cs typeface="Calibri"/>
              </a:rPr>
              <a:t>missing,</a:t>
            </a:r>
            <a:r>
              <a:rPr sz="1400" spc="-30" dirty="0">
                <a:solidFill>
                  <a:srgbClr val="404040"/>
                </a:solidFill>
                <a:latin typeface="Calibri"/>
                <a:cs typeface="Calibri"/>
              </a:rPr>
              <a:t> </a:t>
            </a:r>
            <a:r>
              <a:rPr sz="1400" spc="-20" dirty="0">
                <a:solidFill>
                  <a:srgbClr val="404040"/>
                </a:solidFill>
                <a:latin typeface="Calibri"/>
                <a:cs typeface="Calibri"/>
              </a:rPr>
              <a:t>duplicate,</a:t>
            </a:r>
            <a:r>
              <a:rPr sz="1400" spc="-40" dirty="0">
                <a:solidFill>
                  <a:srgbClr val="404040"/>
                </a:solidFill>
                <a:latin typeface="Calibri"/>
                <a:cs typeface="Calibri"/>
              </a:rPr>
              <a:t> </a:t>
            </a:r>
            <a:r>
              <a:rPr sz="1400" dirty="0">
                <a:solidFill>
                  <a:srgbClr val="404040"/>
                </a:solidFill>
                <a:latin typeface="Calibri"/>
                <a:cs typeface="Calibri"/>
              </a:rPr>
              <a:t>or</a:t>
            </a:r>
            <a:r>
              <a:rPr sz="1400" spc="-50" dirty="0">
                <a:solidFill>
                  <a:srgbClr val="404040"/>
                </a:solidFill>
                <a:latin typeface="Calibri"/>
                <a:cs typeface="Calibri"/>
              </a:rPr>
              <a:t> </a:t>
            </a:r>
            <a:r>
              <a:rPr sz="1400" spc="-20" dirty="0">
                <a:solidFill>
                  <a:srgbClr val="404040"/>
                </a:solidFill>
                <a:latin typeface="Calibri"/>
                <a:cs typeface="Calibri"/>
              </a:rPr>
              <a:t>inconsistent</a:t>
            </a:r>
            <a:r>
              <a:rPr sz="1400" spc="-30" dirty="0">
                <a:solidFill>
                  <a:srgbClr val="404040"/>
                </a:solidFill>
                <a:latin typeface="Calibri"/>
                <a:cs typeface="Calibri"/>
              </a:rPr>
              <a:t> </a:t>
            </a:r>
            <a:r>
              <a:rPr sz="1400" spc="-20" dirty="0">
                <a:solidFill>
                  <a:srgbClr val="404040"/>
                </a:solidFill>
                <a:latin typeface="Calibri"/>
                <a:cs typeface="Calibri"/>
              </a:rPr>
              <a:t>data</a:t>
            </a:r>
            <a:r>
              <a:rPr sz="1400" spc="-25" dirty="0">
                <a:solidFill>
                  <a:srgbClr val="404040"/>
                </a:solidFill>
                <a:latin typeface="Calibri"/>
                <a:cs typeface="Calibri"/>
              </a:rPr>
              <a:t> </a:t>
            </a:r>
            <a:r>
              <a:rPr sz="1400" dirty="0">
                <a:solidFill>
                  <a:srgbClr val="404040"/>
                </a:solidFill>
                <a:latin typeface="Calibri"/>
                <a:cs typeface="Calibri"/>
              </a:rPr>
              <a:t>to</a:t>
            </a:r>
            <a:r>
              <a:rPr sz="1400" spc="-40" dirty="0">
                <a:solidFill>
                  <a:srgbClr val="404040"/>
                </a:solidFill>
                <a:latin typeface="Calibri"/>
                <a:cs typeface="Calibri"/>
              </a:rPr>
              <a:t> </a:t>
            </a:r>
            <a:r>
              <a:rPr sz="1400" spc="-20" dirty="0">
                <a:solidFill>
                  <a:srgbClr val="404040"/>
                </a:solidFill>
                <a:latin typeface="Calibri"/>
                <a:cs typeface="Calibri"/>
              </a:rPr>
              <a:t>improve</a:t>
            </a:r>
            <a:r>
              <a:rPr sz="1400" spc="-40" dirty="0">
                <a:solidFill>
                  <a:srgbClr val="404040"/>
                </a:solidFill>
                <a:latin typeface="Calibri"/>
                <a:cs typeface="Calibri"/>
              </a:rPr>
              <a:t> </a:t>
            </a:r>
            <a:r>
              <a:rPr sz="1400" spc="-10" dirty="0">
                <a:solidFill>
                  <a:srgbClr val="404040"/>
                </a:solidFill>
                <a:latin typeface="Calibri"/>
                <a:cs typeface="Calibri"/>
              </a:rPr>
              <a:t>data</a:t>
            </a:r>
            <a:r>
              <a:rPr sz="1400" spc="-40" dirty="0">
                <a:solidFill>
                  <a:srgbClr val="404040"/>
                </a:solidFill>
                <a:latin typeface="Calibri"/>
                <a:cs typeface="Calibri"/>
              </a:rPr>
              <a:t> </a:t>
            </a:r>
            <a:r>
              <a:rPr sz="1400" spc="-10" dirty="0">
                <a:solidFill>
                  <a:srgbClr val="404040"/>
                </a:solidFill>
                <a:latin typeface="Calibri"/>
                <a:cs typeface="Calibri"/>
              </a:rPr>
              <a:t>quality.</a:t>
            </a:r>
            <a:endParaRPr sz="1400">
              <a:latin typeface="Calibri"/>
              <a:cs typeface="Calibri"/>
            </a:endParaRPr>
          </a:p>
        </p:txBody>
      </p:sp>
      <p:pic>
        <p:nvPicPr>
          <p:cNvPr id="4" name="object 4"/>
          <p:cNvPicPr/>
          <p:nvPr/>
        </p:nvPicPr>
        <p:blipFill>
          <a:blip r:embed="rId2" cstate="print"/>
          <a:stretch>
            <a:fillRect/>
          </a:stretch>
        </p:blipFill>
        <p:spPr>
          <a:xfrm>
            <a:off x="1143000" y="3410481"/>
            <a:ext cx="3581400" cy="2607690"/>
          </a:xfrm>
          <a:prstGeom prst="rect">
            <a:avLst/>
          </a:prstGeom>
        </p:spPr>
      </p:pic>
      <p:pic>
        <p:nvPicPr>
          <p:cNvPr id="5" name="object 5"/>
          <p:cNvPicPr/>
          <p:nvPr/>
        </p:nvPicPr>
        <p:blipFill>
          <a:blip r:embed="rId3" cstate="print"/>
          <a:stretch>
            <a:fillRect/>
          </a:stretch>
        </p:blipFill>
        <p:spPr>
          <a:xfrm>
            <a:off x="5334000" y="3407228"/>
            <a:ext cx="5334000" cy="25145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87800" y="513757"/>
            <a:ext cx="3848735" cy="623570"/>
          </a:xfrm>
          <a:prstGeom prst="rect">
            <a:avLst/>
          </a:prstGeom>
        </p:spPr>
        <p:txBody>
          <a:bodyPr vert="horz" wrap="square" lIns="0" tIns="15240" rIns="0" bIns="0" rtlCol="0">
            <a:spAutoFit/>
          </a:bodyPr>
          <a:lstStyle/>
          <a:p>
            <a:pPr marL="12700">
              <a:lnSpc>
                <a:spcPct val="100000"/>
              </a:lnSpc>
              <a:spcBef>
                <a:spcPts val="120"/>
              </a:spcBef>
            </a:pPr>
            <a:r>
              <a:rPr spc="-90" dirty="0"/>
              <a:t>Feature</a:t>
            </a:r>
            <a:r>
              <a:rPr spc="-260" dirty="0"/>
              <a:t> </a:t>
            </a:r>
            <a:r>
              <a:rPr spc="-55" dirty="0"/>
              <a:t>Engineering</a:t>
            </a:r>
          </a:p>
        </p:txBody>
      </p:sp>
      <p:sp>
        <p:nvSpPr>
          <p:cNvPr id="3" name="object 3"/>
          <p:cNvSpPr txBox="1"/>
          <p:nvPr/>
        </p:nvSpPr>
        <p:spPr>
          <a:xfrm>
            <a:off x="817244" y="1327403"/>
            <a:ext cx="10355580" cy="607695"/>
          </a:xfrm>
          <a:prstGeom prst="rect">
            <a:avLst/>
          </a:prstGeom>
        </p:spPr>
        <p:txBody>
          <a:bodyPr vert="horz" wrap="square" lIns="0" tIns="45085" rIns="0" bIns="0" rtlCol="0">
            <a:spAutoFit/>
          </a:bodyPr>
          <a:lstStyle/>
          <a:p>
            <a:pPr marL="112395" marR="5080" indent="-100330">
              <a:lnSpc>
                <a:spcPts val="2180"/>
              </a:lnSpc>
              <a:spcBef>
                <a:spcPts val="355"/>
              </a:spcBef>
              <a:buClr>
                <a:srgbClr val="E38312"/>
              </a:buClr>
              <a:buSzPct val="95000"/>
              <a:buFont typeface="Wingdings"/>
              <a:buChar char=""/>
              <a:tabLst>
                <a:tab pos="112395" algn="l"/>
                <a:tab pos="135890" algn="l"/>
              </a:tabLst>
            </a:pPr>
            <a:r>
              <a:rPr sz="2000" spc="-20" dirty="0">
                <a:solidFill>
                  <a:srgbClr val="404040"/>
                </a:solidFill>
                <a:latin typeface="Calibri"/>
                <a:cs typeface="Calibri"/>
              </a:rPr>
              <a:t>	Feature</a:t>
            </a:r>
            <a:r>
              <a:rPr sz="2000" spc="-80" dirty="0">
                <a:solidFill>
                  <a:srgbClr val="404040"/>
                </a:solidFill>
                <a:latin typeface="Calibri"/>
                <a:cs typeface="Calibri"/>
              </a:rPr>
              <a:t> </a:t>
            </a:r>
            <a:r>
              <a:rPr sz="2000" spc="-10" dirty="0">
                <a:solidFill>
                  <a:srgbClr val="404040"/>
                </a:solidFill>
                <a:latin typeface="Calibri"/>
                <a:cs typeface="Calibri"/>
              </a:rPr>
              <a:t>Engineering</a:t>
            </a:r>
            <a:r>
              <a:rPr sz="2000" spc="-100" dirty="0">
                <a:solidFill>
                  <a:srgbClr val="404040"/>
                </a:solidFill>
                <a:latin typeface="Calibri"/>
                <a:cs typeface="Calibri"/>
              </a:rPr>
              <a:t> </a:t>
            </a:r>
            <a:r>
              <a:rPr sz="2000" dirty="0">
                <a:solidFill>
                  <a:srgbClr val="404040"/>
                </a:solidFill>
                <a:latin typeface="Calibri"/>
                <a:cs typeface="Calibri"/>
              </a:rPr>
              <a:t>is</a:t>
            </a:r>
            <a:r>
              <a:rPr sz="2000" spc="-60" dirty="0">
                <a:solidFill>
                  <a:srgbClr val="404040"/>
                </a:solidFill>
                <a:latin typeface="Calibri"/>
                <a:cs typeface="Calibri"/>
              </a:rPr>
              <a:t> </a:t>
            </a:r>
            <a:r>
              <a:rPr sz="2000" dirty="0">
                <a:solidFill>
                  <a:srgbClr val="404040"/>
                </a:solidFill>
                <a:latin typeface="Calibri"/>
                <a:cs typeface="Calibri"/>
              </a:rPr>
              <a:t>the</a:t>
            </a:r>
            <a:r>
              <a:rPr sz="2000" spc="-70" dirty="0">
                <a:solidFill>
                  <a:srgbClr val="404040"/>
                </a:solidFill>
                <a:latin typeface="Calibri"/>
                <a:cs typeface="Calibri"/>
              </a:rPr>
              <a:t> </a:t>
            </a:r>
            <a:r>
              <a:rPr sz="2000" dirty="0">
                <a:solidFill>
                  <a:srgbClr val="404040"/>
                </a:solidFill>
                <a:latin typeface="Calibri"/>
                <a:cs typeface="Calibri"/>
              </a:rPr>
              <a:t>process</a:t>
            </a:r>
            <a:r>
              <a:rPr sz="2000" spc="-65" dirty="0">
                <a:solidFill>
                  <a:srgbClr val="404040"/>
                </a:solidFill>
                <a:latin typeface="Calibri"/>
                <a:cs typeface="Calibri"/>
              </a:rPr>
              <a:t> </a:t>
            </a:r>
            <a:r>
              <a:rPr sz="2000" dirty="0">
                <a:solidFill>
                  <a:srgbClr val="404040"/>
                </a:solidFill>
                <a:latin typeface="Calibri"/>
                <a:cs typeface="Calibri"/>
              </a:rPr>
              <a:t>of</a:t>
            </a:r>
            <a:r>
              <a:rPr sz="2000" spc="-80" dirty="0">
                <a:solidFill>
                  <a:srgbClr val="404040"/>
                </a:solidFill>
                <a:latin typeface="Calibri"/>
                <a:cs typeface="Calibri"/>
              </a:rPr>
              <a:t> </a:t>
            </a:r>
            <a:r>
              <a:rPr sz="2000" dirty="0">
                <a:solidFill>
                  <a:srgbClr val="404040"/>
                </a:solidFill>
                <a:latin typeface="Calibri"/>
                <a:cs typeface="Calibri"/>
              </a:rPr>
              <a:t>creating</a:t>
            </a:r>
            <a:r>
              <a:rPr sz="2000" spc="-70" dirty="0">
                <a:solidFill>
                  <a:srgbClr val="404040"/>
                </a:solidFill>
                <a:latin typeface="Calibri"/>
                <a:cs typeface="Calibri"/>
              </a:rPr>
              <a:t> </a:t>
            </a:r>
            <a:r>
              <a:rPr sz="2000" dirty="0">
                <a:solidFill>
                  <a:srgbClr val="404040"/>
                </a:solidFill>
                <a:latin typeface="Calibri"/>
                <a:cs typeface="Calibri"/>
              </a:rPr>
              <a:t>new</a:t>
            </a:r>
            <a:r>
              <a:rPr sz="2000" spc="-90" dirty="0">
                <a:solidFill>
                  <a:srgbClr val="404040"/>
                </a:solidFill>
                <a:latin typeface="Calibri"/>
                <a:cs typeface="Calibri"/>
              </a:rPr>
              <a:t> </a:t>
            </a:r>
            <a:r>
              <a:rPr sz="2000" spc="-20" dirty="0">
                <a:solidFill>
                  <a:srgbClr val="404040"/>
                </a:solidFill>
                <a:latin typeface="Calibri"/>
                <a:cs typeface="Calibri"/>
              </a:rPr>
              <a:t>features</a:t>
            </a:r>
            <a:r>
              <a:rPr sz="2000" spc="-80" dirty="0">
                <a:solidFill>
                  <a:srgbClr val="404040"/>
                </a:solidFill>
                <a:latin typeface="Calibri"/>
                <a:cs typeface="Calibri"/>
              </a:rPr>
              <a:t> </a:t>
            </a:r>
            <a:r>
              <a:rPr sz="2000" spc="-10" dirty="0">
                <a:solidFill>
                  <a:srgbClr val="404040"/>
                </a:solidFill>
                <a:latin typeface="Calibri"/>
                <a:cs typeface="Calibri"/>
              </a:rPr>
              <a:t>(columns)</a:t>
            </a:r>
            <a:r>
              <a:rPr sz="2000" spc="-65" dirty="0">
                <a:solidFill>
                  <a:srgbClr val="404040"/>
                </a:solidFill>
                <a:latin typeface="Calibri"/>
                <a:cs typeface="Calibri"/>
              </a:rPr>
              <a:t> </a:t>
            </a:r>
            <a:r>
              <a:rPr sz="2000" dirty="0">
                <a:solidFill>
                  <a:srgbClr val="404040"/>
                </a:solidFill>
                <a:latin typeface="Calibri"/>
                <a:cs typeface="Calibri"/>
              </a:rPr>
              <a:t>from</a:t>
            </a:r>
            <a:r>
              <a:rPr sz="2000" spc="-65" dirty="0">
                <a:solidFill>
                  <a:srgbClr val="404040"/>
                </a:solidFill>
                <a:latin typeface="Calibri"/>
                <a:cs typeface="Calibri"/>
              </a:rPr>
              <a:t> </a:t>
            </a:r>
            <a:r>
              <a:rPr sz="2000" dirty="0">
                <a:solidFill>
                  <a:srgbClr val="404040"/>
                </a:solidFill>
                <a:latin typeface="Calibri"/>
                <a:cs typeface="Calibri"/>
              </a:rPr>
              <a:t>existing</a:t>
            </a:r>
            <a:r>
              <a:rPr sz="2000" spc="-60" dirty="0">
                <a:solidFill>
                  <a:srgbClr val="404040"/>
                </a:solidFill>
                <a:latin typeface="Calibri"/>
                <a:cs typeface="Calibri"/>
              </a:rPr>
              <a:t> </a:t>
            </a:r>
            <a:r>
              <a:rPr sz="2000" dirty="0">
                <a:solidFill>
                  <a:srgbClr val="404040"/>
                </a:solidFill>
                <a:latin typeface="Calibri"/>
                <a:cs typeface="Calibri"/>
              </a:rPr>
              <a:t>data</a:t>
            </a:r>
            <a:r>
              <a:rPr sz="2000" spc="-70" dirty="0">
                <a:solidFill>
                  <a:srgbClr val="404040"/>
                </a:solidFill>
                <a:latin typeface="Calibri"/>
                <a:cs typeface="Calibri"/>
              </a:rPr>
              <a:t> </a:t>
            </a:r>
            <a:r>
              <a:rPr sz="2000" dirty="0">
                <a:solidFill>
                  <a:srgbClr val="404040"/>
                </a:solidFill>
                <a:latin typeface="Calibri"/>
                <a:cs typeface="Calibri"/>
              </a:rPr>
              <a:t>to</a:t>
            </a:r>
            <a:r>
              <a:rPr sz="2000" spc="-75" dirty="0">
                <a:solidFill>
                  <a:srgbClr val="404040"/>
                </a:solidFill>
                <a:latin typeface="Calibri"/>
                <a:cs typeface="Calibri"/>
              </a:rPr>
              <a:t> </a:t>
            </a:r>
            <a:r>
              <a:rPr sz="2000" spc="-10" dirty="0">
                <a:solidFill>
                  <a:srgbClr val="404040"/>
                </a:solidFill>
                <a:latin typeface="Calibri"/>
                <a:cs typeface="Calibri"/>
              </a:rPr>
              <a:t>improve </a:t>
            </a:r>
            <a:r>
              <a:rPr sz="2000" dirty="0">
                <a:solidFill>
                  <a:srgbClr val="404040"/>
                </a:solidFill>
                <a:latin typeface="Calibri"/>
                <a:cs typeface="Calibri"/>
              </a:rPr>
              <a:t>analysis</a:t>
            </a:r>
            <a:r>
              <a:rPr sz="2000" spc="-55" dirty="0">
                <a:solidFill>
                  <a:srgbClr val="404040"/>
                </a:solidFill>
                <a:latin typeface="Calibri"/>
                <a:cs typeface="Calibri"/>
              </a:rPr>
              <a:t> </a:t>
            </a:r>
            <a:r>
              <a:rPr sz="2000" dirty="0">
                <a:solidFill>
                  <a:srgbClr val="404040"/>
                </a:solidFill>
                <a:latin typeface="Calibri"/>
                <a:cs typeface="Calibri"/>
              </a:rPr>
              <a:t>and</a:t>
            </a:r>
            <a:r>
              <a:rPr sz="2000" spc="-65" dirty="0">
                <a:solidFill>
                  <a:srgbClr val="404040"/>
                </a:solidFill>
                <a:latin typeface="Calibri"/>
                <a:cs typeface="Calibri"/>
              </a:rPr>
              <a:t> </a:t>
            </a:r>
            <a:r>
              <a:rPr sz="2000" spc="-20" dirty="0">
                <a:solidFill>
                  <a:srgbClr val="404040"/>
                </a:solidFill>
                <a:latin typeface="Calibri"/>
                <a:cs typeface="Calibri"/>
              </a:rPr>
              <a:t>generate</a:t>
            </a:r>
            <a:r>
              <a:rPr sz="2000" spc="-70" dirty="0">
                <a:solidFill>
                  <a:srgbClr val="404040"/>
                </a:solidFill>
                <a:latin typeface="Calibri"/>
                <a:cs typeface="Calibri"/>
              </a:rPr>
              <a:t> </a:t>
            </a:r>
            <a:r>
              <a:rPr sz="2000" spc="-10" dirty="0">
                <a:solidFill>
                  <a:srgbClr val="404040"/>
                </a:solidFill>
                <a:latin typeface="Calibri"/>
                <a:cs typeface="Calibri"/>
              </a:rPr>
              <a:t>meaningful</a:t>
            </a:r>
            <a:r>
              <a:rPr sz="2000" spc="-65" dirty="0">
                <a:solidFill>
                  <a:srgbClr val="404040"/>
                </a:solidFill>
                <a:latin typeface="Calibri"/>
                <a:cs typeface="Calibri"/>
              </a:rPr>
              <a:t> </a:t>
            </a:r>
            <a:r>
              <a:rPr sz="2000" spc="-10" dirty="0">
                <a:solidFill>
                  <a:srgbClr val="404040"/>
                </a:solidFill>
                <a:latin typeface="Calibri"/>
                <a:cs typeface="Calibri"/>
              </a:rPr>
              <a:t>insights.</a:t>
            </a:r>
            <a:endParaRPr sz="2000">
              <a:latin typeface="Calibri"/>
              <a:cs typeface="Calibri"/>
            </a:endParaRPr>
          </a:p>
        </p:txBody>
      </p:sp>
      <p:pic>
        <p:nvPicPr>
          <p:cNvPr id="4" name="object 4"/>
          <p:cNvPicPr/>
          <p:nvPr/>
        </p:nvPicPr>
        <p:blipFill>
          <a:blip r:embed="rId2" cstate="print"/>
          <a:stretch>
            <a:fillRect/>
          </a:stretch>
        </p:blipFill>
        <p:spPr>
          <a:xfrm>
            <a:off x="3124200" y="2267984"/>
            <a:ext cx="4724400" cy="33552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3532" y="762000"/>
            <a:ext cx="10084435" cy="5029200"/>
            <a:chOff x="1193532" y="762000"/>
            <a:chExt cx="10084435" cy="5029200"/>
          </a:xfrm>
        </p:grpSpPr>
        <p:pic>
          <p:nvPicPr>
            <p:cNvPr id="3" name="object 3"/>
            <p:cNvPicPr/>
            <p:nvPr/>
          </p:nvPicPr>
          <p:blipFill>
            <a:blip r:embed="rId2" cstate="print"/>
            <a:stretch>
              <a:fillRect/>
            </a:stretch>
          </p:blipFill>
          <p:spPr>
            <a:xfrm>
              <a:off x="1447800" y="762000"/>
              <a:ext cx="4495800" cy="5029199"/>
            </a:xfrm>
            <a:prstGeom prst="rect">
              <a:avLst/>
            </a:prstGeom>
          </p:spPr>
        </p:pic>
        <p:pic>
          <p:nvPicPr>
            <p:cNvPr id="4" name="object 4"/>
            <p:cNvPicPr/>
            <p:nvPr/>
          </p:nvPicPr>
          <p:blipFill>
            <a:blip r:embed="rId3" cstate="print"/>
            <a:stretch>
              <a:fillRect/>
            </a:stretch>
          </p:blipFill>
          <p:spPr>
            <a:xfrm>
              <a:off x="6324600" y="762000"/>
              <a:ext cx="4953000" cy="502919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z="4000" spc="-100" dirty="0"/>
              <a:t>Exploratory</a:t>
            </a:r>
            <a:r>
              <a:rPr sz="4000" spc="-250" dirty="0"/>
              <a:t> </a:t>
            </a:r>
            <a:r>
              <a:rPr sz="4000" spc="-80" dirty="0"/>
              <a:t>Data</a:t>
            </a:r>
            <a:r>
              <a:rPr sz="4000" spc="-240" dirty="0"/>
              <a:t> </a:t>
            </a:r>
            <a:r>
              <a:rPr sz="4000" spc="-85" dirty="0"/>
              <a:t>Analysis</a:t>
            </a:r>
            <a:r>
              <a:rPr sz="4000" spc="-204" dirty="0"/>
              <a:t> </a:t>
            </a:r>
            <a:r>
              <a:rPr sz="4000" spc="-10" dirty="0"/>
              <a:t>(EDA)</a:t>
            </a:r>
            <a:endParaRPr sz="4000"/>
          </a:p>
        </p:txBody>
      </p:sp>
      <p:sp>
        <p:nvSpPr>
          <p:cNvPr id="3" name="object 3"/>
          <p:cNvSpPr txBox="1"/>
          <p:nvPr/>
        </p:nvSpPr>
        <p:spPr>
          <a:xfrm>
            <a:off x="825500" y="1182115"/>
            <a:ext cx="9436735" cy="482600"/>
          </a:xfrm>
          <a:prstGeom prst="rect">
            <a:avLst/>
          </a:prstGeom>
        </p:spPr>
        <p:txBody>
          <a:bodyPr vert="horz" wrap="square" lIns="0" tIns="12700" rIns="0" bIns="0" rtlCol="0">
            <a:spAutoFit/>
          </a:bodyPr>
          <a:lstStyle/>
          <a:p>
            <a:pPr marL="12700">
              <a:lnSpc>
                <a:spcPct val="100000"/>
              </a:lnSpc>
              <a:spcBef>
                <a:spcPts val="100"/>
              </a:spcBef>
              <a:tabLst>
                <a:tab pos="5346700" algn="l"/>
              </a:tabLst>
            </a:pPr>
            <a:r>
              <a:rPr sz="3000" spc="-10" dirty="0">
                <a:solidFill>
                  <a:srgbClr val="404040"/>
                </a:solidFill>
                <a:latin typeface="Calibri"/>
                <a:cs typeface="Calibri"/>
              </a:rPr>
              <a:t>Shipment</a:t>
            </a:r>
            <a:r>
              <a:rPr sz="3000" spc="-120" dirty="0">
                <a:solidFill>
                  <a:srgbClr val="404040"/>
                </a:solidFill>
                <a:latin typeface="Calibri"/>
                <a:cs typeface="Calibri"/>
              </a:rPr>
              <a:t> </a:t>
            </a:r>
            <a:r>
              <a:rPr sz="3000" dirty="0">
                <a:solidFill>
                  <a:srgbClr val="404040"/>
                </a:solidFill>
                <a:latin typeface="Calibri"/>
                <a:cs typeface="Calibri"/>
              </a:rPr>
              <a:t>Delay</a:t>
            </a:r>
            <a:r>
              <a:rPr sz="3000" spc="-110" dirty="0">
                <a:solidFill>
                  <a:srgbClr val="404040"/>
                </a:solidFill>
                <a:latin typeface="Calibri"/>
                <a:cs typeface="Calibri"/>
              </a:rPr>
              <a:t> </a:t>
            </a:r>
            <a:r>
              <a:rPr sz="3000" spc="-10" dirty="0">
                <a:solidFill>
                  <a:srgbClr val="404040"/>
                </a:solidFill>
                <a:latin typeface="Calibri"/>
                <a:cs typeface="Calibri"/>
              </a:rPr>
              <a:t>Analysis</a:t>
            </a:r>
            <a:r>
              <a:rPr sz="3000" dirty="0">
                <a:solidFill>
                  <a:srgbClr val="404040"/>
                </a:solidFill>
                <a:latin typeface="Calibri"/>
                <a:cs typeface="Calibri"/>
              </a:rPr>
              <a:t>	Shipment</a:t>
            </a:r>
            <a:r>
              <a:rPr sz="3000" spc="-120" dirty="0">
                <a:solidFill>
                  <a:srgbClr val="404040"/>
                </a:solidFill>
                <a:latin typeface="Calibri"/>
                <a:cs typeface="Calibri"/>
              </a:rPr>
              <a:t> </a:t>
            </a:r>
            <a:r>
              <a:rPr sz="3000" dirty="0">
                <a:solidFill>
                  <a:srgbClr val="404040"/>
                </a:solidFill>
                <a:latin typeface="Calibri"/>
                <a:cs typeface="Calibri"/>
              </a:rPr>
              <a:t>Risk</a:t>
            </a:r>
            <a:r>
              <a:rPr sz="3000" spc="-105" dirty="0">
                <a:solidFill>
                  <a:srgbClr val="404040"/>
                </a:solidFill>
                <a:latin typeface="Calibri"/>
                <a:cs typeface="Calibri"/>
              </a:rPr>
              <a:t> </a:t>
            </a:r>
            <a:r>
              <a:rPr sz="3000" spc="-10" dirty="0">
                <a:solidFill>
                  <a:srgbClr val="404040"/>
                </a:solidFill>
                <a:latin typeface="Calibri"/>
                <a:cs typeface="Calibri"/>
              </a:rPr>
              <a:t>Distribution</a:t>
            </a:r>
            <a:endParaRPr sz="3000">
              <a:latin typeface="Calibri"/>
              <a:cs typeface="Calibri"/>
            </a:endParaRPr>
          </a:p>
        </p:txBody>
      </p:sp>
      <p:pic>
        <p:nvPicPr>
          <p:cNvPr id="4" name="object 4"/>
          <p:cNvPicPr/>
          <p:nvPr/>
        </p:nvPicPr>
        <p:blipFill>
          <a:blip r:embed="rId2" cstate="print"/>
          <a:stretch>
            <a:fillRect/>
          </a:stretch>
        </p:blipFill>
        <p:spPr>
          <a:xfrm>
            <a:off x="762000" y="1932052"/>
            <a:ext cx="4267200" cy="3657996"/>
          </a:xfrm>
          <a:prstGeom prst="rect">
            <a:avLst/>
          </a:prstGeom>
        </p:spPr>
      </p:pic>
      <p:pic>
        <p:nvPicPr>
          <p:cNvPr id="5" name="object 5"/>
          <p:cNvPicPr/>
          <p:nvPr/>
        </p:nvPicPr>
        <p:blipFill>
          <a:blip r:embed="rId3" cstate="print"/>
          <a:stretch>
            <a:fillRect/>
          </a:stretch>
        </p:blipFill>
        <p:spPr>
          <a:xfrm>
            <a:off x="6096000" y="1953240"/>
            <a:ext cx="4648200" cy="3644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4604" rIns="0" bIns="0" rtlCol="0">
            <a:spAutoFit/>
          </a:bodyPr>
          <a:lstStyle/>
          <a:p>
            <a:pPr marL="12700">
              <a:lnSpc>
                <a:spcPct val="100000"/>
              </a:lnSpc>
              <a:spcBef>
                <a:spcPts val="114"/>
              </a:spcBef>
            </a:pPr>
            <a:r>
              <a:rPr sz="4200" spc="-100" dirty="0"/>
              <a:t>Exploratory</a:t>
            </a:r>
            <a:r>
              <a:rPr sz="4200" spc="-275" dirty="0"/>
              <a:t> </a:t>
            </a:r>
            <a:r>
              <a:rPr sz="4200" spc="-80" dirty="0"/>
              <a:t>Data</a:t>
            </a:r>
            <a:r>
              <a:rPr sz="4200" spc="-260" dirty="0"/>
              <a:t> </a:t>
            </a:r>
            <a:r>
              <a:rPr sz="4200" spc="-80" dirty="0"/>
              <a:t>Analysis</a:t>
            </a:r>
            <a:r>
              <a:rPr sz="4200" spc="-229" dirty="0"/>
              <a:t> </a:t>
            </a:r>
            <a:r>
              <a:rPr sz="4200" spc="-10" dirty="0"/>
              <a:t>(EDA)</a:t>
            </a:r>
            <a:endParaRPr sz="4200"/>
          </a:p>
        </p:txBody>
      </p:sp>
      <p:sp>
        <p:nvSpPr>
          <p:cNvPr id="3" name="object 3"/>
          <p:cNvSpPr txBox="1"/>
          <p:nvPr/>
        </p:nvSpPr>
        <p:spPr>
          <a:xfrm>
            <a:off x="825500" y="1196340"/>
            <a:ext cx="7928609" cy="330200"/>
          </a:xfrm>
          <a:prstGeom prst="rect">
            <a:avLst/>
          </a:prstGeom>
        </p:spPr>
        <p:txBody>
          <a:bodyPr vert="horz" wrap="square" lIns="0" tIns="12700" rIns="0" bIns="0" rtlCol="0">
            <a:spAutoFit/>
          </a:bodyPr>
          <a:lstStyle/>
          <a:p>
            <a:pPr marL="12700">
              <a:lnSpc>
                <a:spcPct val="100000"/>
              </a:lnSpc>
              <a:spcBef>
                <a:spcPts val="100"/>
              </a:spcBef>
              <a:tabLst>
                <a:tab pos="5346700" algn="l"/>
              </a:tabLst>
            </a:pPr>
            <a:r>
              <a:rPr sz="2000" b="1" dirty="0">
                <a:solidFill>
                  <a:srgbClr val="404040"/>
                </a:solidFill>
                <a:latin typeface="Calibri"/>
                <a:cs typeface="Calibri"/>
              </a:rPr>
              <a:t>Delay</a:t>
            </a:r>
            <a:r>
              <a:rPr sz="2000" b="1" spc="-55" dirty="0">
                <a:solidFill>
                  <a:srgbClr val="404040"/>
                </a:solidFill>
                <a:latin typeface="Calibri"/>
                <a:cs typeface="Calibri"/>
              </a:rPr>
              <a:t> </a:t>
            </a:r>
            <a:r>
              <a:rPr sz="2000" b="1" dirty="0">
                <a:solidFill>
                  <a:srgbClr val="404040"/>
                </a:solidFill>
                <a:latin typeface="Calibri"/>
                <a:cs typeface="Calibri"/>
              </a:rPr>
              <a:t>Analysis</a:t>
            </a:r>
            <a:r>
              <a:rPr sz="2000" b="1" spc="-55" dirty="0">
                <a:solidFill>
                  <a:srgbClr val="404040"/>
                </a:solidFill>
                <a:latin typeface="Calibri"/>
                <a:cs typeface="Calibri"/>
              </a:rPr>
              <a:t> </a:t>
            </a:r>
            <a:r>
              <a:rPr sz="2000" b="1" dirty="0">
                <a:solidFill>
                  <a:srgbClr val="404040"/>
                </a:solidFill>
                <a:latin typeface="Calibri"/>
                <a:cs typeface="Calibri"/>
              </a:rPr>
              <a:t>by</a:t>
            </a:r>
            <a:r>
              <a:rPr sz="2000" b="1" spc="-50" dirty="0">
                <a:solidFill>
                  <a:srgbClr val="404040"/>
                </a:solidFill>
                <a:latin typeface="Calibri"/>
                <a:cs typeface="Calibri"/>
              </a:rPr>
              <a:t> </a:t>
            </a:r>
            <a:r>
              <a:rPr sz="2000" b="1" dirty="0">
                <a:solidFill>
                  <a:srgbClr val="404040"/>
                </a:solidFill>
                <a:latin typeface="Calibri"/>
                <a:cs typeface="Calibri"/>
              </a:rPr>
              <a:t>Shipping</a:t>
            </a:r>
            <a:r>
              <a:rPr sz="2000" b="1" spc="-55" dirty="0">
                <a:solidFill>
                  <a:srgbClr val="404040"/>
                </a:solidFill>
                <a:latin typeface="Calibri"/>
                <a:cs typeface="Calibri"/>
              </a:rPr>
              <a:t> </a:t>
            </a:r>
            <a:r>
              <a:rPr sz="2000" b="1" spc="-20" dirty="0">
                <a:solidFill>
                  <a:srgbClr val="404040"/>
                </a:solidFill>
                <a:latin typeface="Calibri"/>
                <a:cs typeface="Calibri"/>
              </a:rPr>
              <a:t>Mode</a:t>
            </a:r>
            <a:r>
              <a:rPr sz="2000" b="1" dirty="0">
                <a:solidFill>
                  <a:srgbClr val="404040"/>
                </a:solidFill>
                <a:latin typeface="Calibri"/>
                <a:cs typeface="Calibri"/>
              </a:rPr>
              <a:t>	Average</a:t>
            </a:r>
            <a:r>
              <a:rPr sz="2000" b="1" spc="-50" dirty="0">
                <a:solidFill>
                  <a:srgbClr val="404040"/>
                </a:solidFill>
                <a:latin typeface="Calibri"/>
                <a:cs typeface="Calibri"/>
              </a:rPr>
              <a:t> </a:t>
            </a:r>
            <a:r>
              <a:rPr sz="2000" b="1" dirty="0">
                <a:solidFill>
                  <a:srgbClr val="404040"/>
                </a:solidFill>
                <a:latin typeface="Calibri"/>
                <a:cs typeface="Calibri"/>
              </a:rPr>
              <a:t>Delay</a:t>
            </a:r>
            <a:r>
              <a:rPr sz="2000" b="1" spc="-45" dirty="0">
                <a:solidFill>
                  <a:srgbClr val="404040"/>
                </a:solidFill>
                <a:latin typeface="Calibri"/>
                <a:cs typeface="Calibri"/>
              </a:rPr>
              <a:t> </a:t>
            </a:r>
            <a:r>
              <a:rPr sz="2000" b="1" dirty="0">
                <a:solidFill>
                  <a:srgbClr val="404040"/>
                </a:solidFill>
                <a:latin typeface="Calibri"/>
                <a:cs typeface="Calibri"/>
              </a:rPr>
              <a:t>by</a:t>
            </a:r>
            <a:r>
              <a:rPr sz="2000" b="1" spc="-45" dirty="0">
                <a:solidFill>
                  <a:srgbClr val="404040"/>
                </a:solidFill>
                <a:latin typeface="Calibri"/>
                <a:cs typeface="Calibri"/>
              </a:rPr>
              <a:t> </a:t>
            </a:r>
            <a:r>
              <a:rPr sz="2000" b="1" spc="-10" dirty="0">
                <a:solidFill>
                  <a:srgbClr val="404040"/>
                </a:solidFill>
                <a:latin typeface="Calibri"/>
                <a:cs typeface="Calibri"/>
              </a:rPr>
              <a:t>region</a:t>
            </a:r>
            <a:endParaRPr sz="2000">
              <a:latin typeface="Calibri"/>
              <a:cs typeface="Calibri"/>
            </a:endParaRPr>
          </a:p>
        </p:txBody>
      </p:sp>
      <p:pic>
        <p:nvPicPr>
          <p:cNvPr id="4" name="object 4"/>
          <p:cNvPicPr/>
          <p:nvPr/>
        </p:nvPicPr>
        <p:blipFill>
          <a:blip r:embed="rId2" cstate="print"/>
          <a:stretch>
            <a:fillRect/>
          </a:stretch>
        </p:blipFill>
        <p:spPr>
          <a:xfrm>
            <a:off x="825500" y="1932053"/>
            <a:ext cx="4965700" cy="4087747"/>
          </a:xfrm>
          <a:prstGeom prst="rect">
            <a:avLst/>
          </a:prstGeom>
        </p:spPr>
      </p:pic>
      <p:pic>
        <p:nvPicPr>
          <p:cNvPr id="5" name="object 5"/>
          <p:cNvPicPr/>
          <p:nvPr/>
        </p:nvPicPr>
        <p:blipFill>
          <a:blip r:embed="rId3" cstate="print"/>
          <a:stretch>
            <a:fillRect/>
          </a:stretch>
        </p:blipFill>
        <p:spPr>
          <a:xfrm>
            <a:off x="6324600" y="1977821"/>
            <a:ext cx="4965700" cy="40276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72200" y="1768629"/>
            <a:ext cx="4876800" cy="4414592"/>
          </a:xfrm>
          <a:prstGeom prst="rect">
            <a:avLst/>
          </a:prstGeom>
        </p:spPr>
      </p:pic>
      <p:sp>
        <p:nvSpPr>
          <p:cNvPr id="3" name="object 3" descr="$PPTXTitle"/>
          <p:cNvSpPr txBox="1">
            <a:spLocks noGrp="1"/>
          </p:cNvSpPr>
          <p:nvPr>
            <p:ph type="ctrTitle"/>
          </p:nvPr>
        </p:nvSpPr>
        <p:spPr>
          <a:prstGeom prst="rect">
            <a:avLst/>
          </a:prstGeom>
        </p:spPr>
        <p:txBody>
          <a:bodyPr vert="horz" wrap="square" lIns="0" tIns="14604" rIns="0" bIns="0" rtlCol="0">
            <a:spAutoFit/>
          </a:bodyPr>
          <a:lstStyle/>
          <a:p>
            <a:pPr marL="12700">
              <a:lnSpc>
                <a:spcPct val="100000"/>
              </a:lnSpc>
              <a:spcBef>
                <a:spcPts val="114"/>
              </a:spcBef>
            </a:pPr>
            <a:r>
              <a:rPr sz="4200" spc="-100" dirty="0"/>
              <a:t>Exploratory</a:t>
            </a:r>
            <a:r>
              <a:rPr sz="4200" spc="-275" dirty="0"/>
              <a:t> </a:t>
            </a:r>
            <a:r>
              <a:rPr sz="4200" spc="-80" dirty="0"/>
              <a:t>Data</a:t>
            </a:r>
            <a:r>
              <a:rPr sz="4200" spc="-260" dirty="0"/>
              <a:t> </a:t>
            </a:r>
            <a:r>
              <a:rPr sz="4200" spc="-80" dirty="0"/>
              <a:t>Analysis</a:t>
            </a:r>
            <a:r>
              <a:rPr sz="4200" spc="-229" dirty="0"/>
              <a:t> </a:t>
            </a:r>
            <a:r>
              <a:rPr sz="4200" spc="-10" dirty="0"/>
              <a:t>(EDA)</a:t>
            </a:r>
            <a:endParaRPr sz="4200"/>
          </a:p>
        </p:txBody>
      </p:sp>
      <p:sp>
        <p:nvSpPr>
          <p:cNvPr id="4" name="object 4"/>
          <p:cNvSpPr txBox="1"/>
          <p:nvPr/>
        </p:nvSpPr>
        <p:spPr>
          <a:xfrm>
            <a:off x="825500" y="1196340"/>
            <a:ext cx="8100059" cy="330200"/>
          </a:xfrm>
          <a:prstGeom prst="rect">
            <a:avLst/>
          </a:prstGeom>
        </p:spPr>
        <p:txBody>
          <a:bodyPr vert="horz" wrap="square" lIns="0" tIns="12700" rIns="0" bIns="0" rtlCol="0">
            <a:spAutoFit/>
          </a:bodyPr>
          <a:lstStyle/>
          <a:p>
            <a:pPr marL="12700">
              <a:lnSpc>
                <a:spcPct val="100000"/>
              </a:lnSpc>
              <a:spcBef>
                <a:spcPts val="100"/>
              </a:spcBef>
              <a:tabLst>
                <a:tab pos="5346700" algn="l"/>
              </a:tabLst>
            </a:pPr>
            <a:r>
              <a:rPr sz="2000" b="1" dirty="0">
                <a:solidFill>
                  <a:srgbClr val="404040"/>
                </a:solidFill>
                <a:latin typeface="Calibri"/>
                <a:cs typeface="Calibri"/>
              </a:rPr>
              <a:t>Monthly</a:t>
            </a:r>
            <a:r>
              <a:rPr sz="2000" b="1" spc="-60" dirty="0">
                <a:solidFill>
                  <a:srgbClr val="404040"/>
                </a:solidFill>
                <a:latin typeface="Calibri"/>
                <a:cs typeface="Calibri"/>
              </a:rPr>
              <a:t> </a:t>
            </a:r>
            <a:r>
              <a:rPr sz="2000" b="1" dirty="0">
                <a:solidFill>
                  <a:srgbClr val="404040"/>
                </a:solidFill>
                <a:latin typeface="Calibri"/>
                <a:cs typeface="Calibri"/>
              </a:rPr>
              <a:t>Sales</a:t>
            </a:r>
            <a:r>
              <a:rPr sz="2000" b="1" spc="-60" dirty="0">
                <a:solidFill>
                  <a:srgbClr val="404040"/>
                </a:solidFill>
                <a:latin typeface="Calibri"/>
                <a:cs typeface="Calibri"/>
              </a:rPr>
              <a:t> </a:t>
            </a:r>
            <a:r>
              <a:rPr sz="2000" b="1" spc="-20" dirty="0">
                <a:solidFill>
                  <a:srgbClr val="404040"/>
                </a:solidFill>
                <a:latin typeface="Calibri"/>
                <a:cs typeface="Calibri"/>
              </a:rPr>
              <a:t>trend</a:t>
            </a:r>
            <a:r>
              <a:rPr sz="2000" b="1" dirty="0">
                <a:solidFill>
                  <a:srgbClr val="404040"/>
                </a:solidFill>
                <a:latin typeface="Calibri"/>
                <a:cs typeface="Calibri"/>
              </a:rPr>
              <a:t>	Sales</a:t>
            </a:r>
            <a:r>
              <a:rPr sz="2000" b="1" spc="-45" dirty="0">
                <a:solidFill>
                  <a:srgbClr val="404040"/>
                </a:solidFill>
                <a:latin typeface="Calibri"/>
                <a:cs typeface="Calibri"/>
              </a:rPr>
              <a:t> </a:t>
            </a:r>
            <a:r>
              <a:rPr sz="2000" b="1" dirty="0">
                <a:solidFill>
                  <a:srgbClr val="404040"/>
                </a:solidFill>
                <a:latin typeface="Calibri"/>
                <a:cs typeface="Calibri"/>
              </a:rPr>
              <a:t>by</a:t>
            </a:r>
            <a:r>
              <a:rPr sz="2000" b="1" spc="-40" dirty="0">
                <a:solidFill>
                  <a:srgbClr val="404040"/>
                </a:solidFill>
                <a:latin typeface="Calibri"/>
                <a:cs typeface="Calibri"/>
              </a:rPr>
              <a:t> </a:t>
            </a:r>
            <a:r>
              <a:rPr sz="2000" b="1" dirty="0">
                <a:solidFill>
                  <a:srgbClr val="404040"/>
                </a:solidFill>
                <a:latin typeface="Calibri"/>
                <a:cs typeface="Calibri"/>
              </a:rPr>
              <a:t>Product</a:t>
            </a:r>
            <a:r>
              <a:rPr sz="2000" b="1" spc="-45" dirty="0">
                <a:solidFill>
                  <a:srgbClr val="404040"/>
                </a:solidFill>
                <a:latin typeface="Calibri"/>
                <a:cs typeface="Calibri"/>
              </a:rPr>
              <a:t> </a:t>
            </a:r>
            <a:r>
              <a:rPr sz="2000" b="1" spc="-10" dirty="0">
                <a:solidFill>
                  <a:srgbClr val="404040"/>
                </a:solidFill>
                <a:latin typeface="Calibri"/>
                <a:cs typeface="Calibri"/>
              </a:rPr>
              <a:t>Category</a:t>
            </a:r>
            <a:endParaRPr sz="2000">
              <a:latin typeface="Calibri"/>
              <a:cs typeface="Calibri"/>
            </a:endParaRPr>
          </a:p>
        </p:txBody>
      </p:sp>
      <p:pic>
        <p:nvPicPr>
          <p:cNvPr id="5" name="object 5"/>
          <p:cNvPicPr/>
          <p:nvPr/>
        </p:nvPicPr>
        <p:blipFill>
          <a:blip r:embed="rId3" cstate="print"/>
          <a:stretch>
            <a:fillRect/>
          </a:stretch>
        </p:blipFill>
        <p:spPr>
          <a:xfrm>
            <a:off x="762000" y="1932052"/>
            <a:ext cx="4343400" cy="40877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53915" rIns="0" bIns="0" rtlCol="0">
            <a:spAutoFit/>
          </a:bodyPr>
          <a:lstStyle/>
          <a:p>
            <a:pPr marL="3467100">
              <a:lnSpc>
                <a:spcPct val="100000"/>
              </a:lnSpc>
              <a:spcBef>
                <a:spcPts val="120"/>
              </a:spcBef>
            </a:pPr>
            <a:r>
              <a:rPr spc="-10" dirty="0"/>
              <a:t>Outliers</a:t>
            </a:r>
          </a:p>
        </p:txBody>
      </p:sp>
      <p:pic>
        <p:nvPicPr>
          <p:cNvPr id="3" name="object 3"/>
          <p:cNvPicPr/>
          <p:nvPr/>
        </p:nvPicPr>
        <p:blipFill>
          <a:blip r:embed="rId2" cstate="print"/>
          <a:stretch>
            <a:fillRect/>
          </a:stretch>
        </p:blipFill>
        <p:spPr>
          <a:xfrm>
            <a:off x="1295401" y="1828801"/>
            <a:ext cx="4419600" cy="3977305"/>
          </a:xfrm>
          <a:prstGeom prst="rect">
            <a:avLst/>
          </a:prstGeom>
        </p:spPr>
      </p:pic>
      <p:pic>
        <p:nvPicPr>
          <p:cNvPr id="4" name="object 4"/>
          <p:cNvPicPr/>
          <p:nvPr/>
        </p:nvPicPr>
        <p:blipFill>
          <a:blip r:embed="rId3" cstate="print"/>
          <a:stretch>
            <a:fillRect/>
          </a:stretch>
        </p:blipFill>
        <p:spPr>
          <a:xfrm>
            <a:off x="6096000" y="1876968"/>
            <a:ext cx="5276850" cy="392114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53915" rIns="0" bIns="0" rtlCol="0">
            <a:spAutoFit/>
          </a:bodyPr>
          <a:lstStyle/>
          <a:p>
            <a:pPr marL="2572385">
              <a:lnSpc>
                <a:spcPct val="100000"/>
              </a:lnSpc>
              <a:spcBef>
                <a:spcPts val="120"/>
              </a:spcBef>
            </a:pPr>
            <a:r>
              <a:rPr dirty="0"/>
              <a:t>Business</a:t>
            </a:r>
            <a:r>
              <a:rPr spc="5" dirty="0"/>
              <a:t> </a:t>
            </a:r>
            <a:r>
              <a:rPr spc="-10" dirty="0"/>
              <a:t>Insights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84785" indent="-172085">
              <a:lnSpc>
                <a:spcPts val="1415"/>
              </a:lnSpc>
              <a:spcBef>
                <a:spcPts val="100"/>
              </a:spcBef>
              <a:buFont typeface="Arial MT"/>
              <a:buChar char="•"/>
              <a:tabLst>
                <a:tab pos="184785" algn="l"/>
              </a:tabLst>
            </a:pPr>
            <a:r>
              <a:rPr b="1" dirty="0">
                <a:latin typeface="Arial"/>
                <a:cs typeface="Arial"/>
              </a:rPr>
              <a:t>More</a:t>
            </a:r>
            <a:r>
              <a:rPr b="1" spc="-30" dirty="0">
                <a:latin typeface="Arial"/>
                <a:cs typeface="Arial"/>
              </a:rPr>
              <a:t> </a:t>
            </a:r>
            <a:r>
              <a:rPr b="1" dirty="0">
                <a:latin typeface="Arial"/>
                <a:cs typeface="Arial"/>
              </a:rPr>
              <a:t>than</a:t>
            </a:r>
            <a:r>
              <a:rPr b="1" spc="-15" dirty="0">
                <a:latin typeface="Arial"/>
                <a:cs typeface="Arial"/>
              </a:rPr>
              <a:t> </a:t>
            </a:r>
            <a:r>
              <a:rPr b="1" dirty="0">
                <a:latin typeface="Arial"/>
                <a:cs typeface="Arial"/>
              </a:rPr>
              <a:t>half</a:t>
            </a:r>
            <a:r>
              <a:rPr b="1" spc="-15" dirty="0">
                <a:latin typeface="Arial"/>
                <a:cs typeface="Arial"/>
              </a:rPr>
              <a:t> </a:t>
            </a:r>
            <a:r>
              <a:rPr b="1" dirty="0">
                <a:latin typeface="Arial"/>
                <a:cs typeface="Arial"/>
              </a:rPr>
              <a:t>of</a:t>
            </a:r>
            <a:r>
              <a:rPr b="1" spc="-20" dirty="0">
                <a:latin typeface="Arial"/>
                <a:cs typeface="Arial"/>
              </a:rPr>
              <a:t> </a:t>
            </a:r>
            <a:r>
              <a:rPr b="1" dirty="0">
                <a:latin typeface="Arial"/>
                <a:cs typeface="Arial"/>
              </a:rPr>
              <a:t>the</a:t>
            </a:r>
            <a:r>
              <a:rPr b="1" spc="-25" dirty="0">
                <a:latin typeface="Arial"/>
                <a:cs typeface="Arial"/>
              </a:rPr>
              <a:t> </a:t>
            </a:r>
            <a:r>
              <a:rPr b="1" dirty="0">
                <a:latin typeface="Arial"/>
                <a:cs typeface="Arial"/>
              </a:rPr>
              <a:t>shipments</a:t>
            </a:r>
            <a:r>
              <a:rPr b="1" spc="-25" dirty="0">
                <a:latin typeface="Arial"/>
                <a:cs typeface="Arial"/>
              </a:rPr>
              <a:t> </a:t>
            </a:r>
            <a:r>
              <a:rPr b="1" dirty="0">
                <a:latin typeface="Arial"/>
                <a:cs typeface="Arial"/>
              </a:rPr>
              <a:t>were</a:t>
            </a:r>
            <a:r>
              <a:rPr b="1" spc="-25" dirty="0">
                <a:latin typeface="Arial"/>
                <a:cs typeface="Arial"/>
              </a:rPr>
              <a:t> </a:t>
            </a:r>
            <a:r>
              <a:rPr b="1" dirty="0">
                <a:latin typeface="Arial"/>
                <a:cs typeface="Arial"/>
              </a:rPr>
              <a:t>delayed</a:t>
            </a:r>
            <a:r>
              <a:rPr dirty="0"/>
              <a:t>,</a:t>
            </a:r>
            <a:r>
              <a:rPr spc="-20" dirty="0"/>
              <a:t> </a:t>
            </a:r>
            <a:r>
              <a:rPr dirty="0"/>
              <a:t>indicating</a:t>
            </a:r>
            <a:r>
              <a:rPr spc="-25" dirty="0"/>
              <a:t> </a:t>
            </a:r>
            <a:r>
              <a:rPr dirty="0"/>
              <a:t>a</a:t>
            </a:r>
            <a:r>
              <a:rPr spc="-25" dirty="0"/>
              <a:t> </a:t>
            </a:r>
            <a:r>
              <a:rPr dirty="0"/>
              <a:t>need</a:t>
            </a:r>
            <a:r>
              <a:rPr spc="-25" dirty="0"/>
              <a:t> </a:t>
            </a:r>
            <a:r>
              <a:rPr dirty="0"/>
              <a:t>to</a:t>
            </a:r>
            <a:r>
              <a:rPr spc="-25" dirty="0"/>
              <a:t> </a:t>
            </a:r>
            <a:r>
              <a:rPr dirty="0"/>
              <a:t>improve</a:t>
            </a:r>
            <a:r>
              <a:rPr spc="-25" dirty="0"/>
              <a:t> </a:t>
            </a:r>
            <a:r>
              <a:rPr dirty="0"/>
              <a:t>delivery</a:t>
            </a:r>
            <a:r>
              <a:rPr spc="-20" dirty="0"/>
              <a:t> </a:t>
            </a:r>
            <a:r>
              <a:rPr dirty="0"/>
              <a:t>planning</a:t>
            </a:r>
            <a:r>
              <a:rPr spc="-25" dirty="0"/>
              <a:t> </a:t>
            </a:r>
            <a:r>
              <a:rPr dirty="0"/>
              <a:t>and</a:t>
            </a:r>
            <a:r>
              <a:rPr spc="-25" dirty="0"/>
              <a:t> </a:t>
            </a:r>
            <a:r>
              <a:rPr dirty="0"/>
              <a:t>logistics</a:t>
            </a:r>
            <a:r>
              <a:rPr spc="-20" dirty="0"/>
              <a:t> </a:t>
            </a:r>
            <a:r>
              <a:rPr spc="-10" dirty="0"/>
              <a:t>operations.</a:t>
            </a:r>
          </a:p>
          <a:p>
            <a:pPr marL="184785" indent="-172085">
              <a:lnSpc>
                <a:spcPts val="1405"/>
              </a:lnSpc>
              <a:buFont typeface="Arial MT"/>
              <a:buChar char="•"/>
              <a:tabLst>
                <a:tab pos="184785" algn="l"/>
              </a:tabLst>
            </a:pPr>
            <a:r>
              <a:rPr b="1" dirty="0">
                <a:latin typeface="Arial"/>
                <a:cs typeface="Arial"/>
              </a:rPr>
              <a:t>Standard</a:t>
            </a:r>
            <a:r>
              <a:rPr b="1" spc="-25" dirty="0">
                <a:latin typeface="Arial"/>
                <a:cs typeface="Arial"/>
              </a:rPr>
              <a:t> </a:t>
            </a:r>
            <a:r>
              <a:rPr b="1" dirty="0">
                <a:latin typeface="Arial"/>
                <a:cs typeface="Arial"/>
              </a:rPr>
              <a:t>Class</a:t>
            </a:r>
            <a:r>
              <a:rPr b="1" spc="-30" dirty="0">
                <a:latin typeface="Arial"/>
                <a:cs typeface="Arial"/>
              </a:rPr>
              <a:t> </a:t>
            </a:r>
            <a:r>
              <a:rPr b="1" dirty="0">
                <a:latin typeface="Arial"/>
                <a:cs typeface="Arial"/>
              </a:rPr>
              <a:t>shipping</a:t>
            </a:r>
            <a:r>
              <a:rPr b="1" spc="-20" dirty="0">
                <a:latin typeface="Arial"/>
                <a:cs typeface="Arial"/>
              </a:rPr>
              <a:t> </a:t>
            </a:r>
            <a:r>
              <a:rPr b="1" dirty="0">
                <a:latin typeface="Arial"/>
                <a:cs typeface="Arial"/>
              </a:rPr>
              <a:t>handled</a:t>
            </a:r>
            <a:r>
              <a:rPr b="1" spc="-20" dirty="0">
                <a:latin typeface="Arial"/>
                <a:cs typeface="Arial"/>
              </a:rPr>
              <a:t> </a:t>
            </a:r>
            <a:r>
              <a:rPr b="1" dirty="0">
                <a:latin typeface="Arial"/>
                <a:cs typeface="Arial"/>
              </a:rPr>
              <a:t>the</a:t>
            </a:r>
            <a:r>
              <a:rPr b="1" spc="-30" dirty="0">
                <a:latin typeface="Arial"/>
                <a:cs typeface="Arial"/>
              </a:rPr>
              <a:t> </a:t>
            </a:r>
            <a:r>
              <a:rPr b="1" dirty="0">
                <a:latin typeface="Arial"/>
                <a:cs typeface="Arial"/>
              </a:rPr>
              <a:t>highest</a:t>
            </a:r>
            <a:r>
              <a:rPr b="1" spc="-20" dirty="0">
                <a:latin typeface="Arial"/>
                <a:cs typeface="Arial"/>
              </a:rPr>
              <a:t> </a:t>
            </a:r>
            <a:r>
              <a:rPr b="1" dirty="0">
                <a:latin typeface="Arial"/>
                <a:cs typeface="Arial"/>
              </a:rPr>
              <a:t>number</a:t>
            </a:r>
            <a:r>
              <a:rPr b="1" spc="-25" dirty="0">
                <a:latin typeface="Arial"/>
                <a:cs typeface="Arial"/>
              </a:rPr>
              <a:t> </a:t>
            </a:r>
            <a:r>
              <a:rPr b="1" dirty="0">
                <a:latin typeface="Arial"/>
                <a:cs typeface="Arial"/>
              </a:rPr>
              <a:t>of</a:t>
            </a:r>
            <a:r>
              <a:rPr b="1" spc="-25" dirty="0">
                <a:latin typeface="Arial"/>
                <a:cs typeface="Arial"/>
              </a:rPr>
              <a:t> </a:t>
            </a:r>
            <a:r>
              <a:rPr b="1" dirty="0">
                <a:latin typeface="Arial"/>
                <a:cs typeface="Arial"/>
              </a:rPr>
              <a:t>orders</a:t>
            </a:r>
            <a:r>
              <a:rPr dirty="0"/>
              <a:t>,</a:t>
            </a:r>
            <a:r>
              <a:rPr spc="-25" dirty="0"/>
              <a:t> </a:t>
            </a:r>
            <a:r>
              <a:rPr dirty="0"/>
              <a:t>but</a:t>
            </a:r>
            <a:r>
              <a:rPr spc="-20" dirty="0"/>
              <a:t> </a:t>
            </a:r>
            <a:r>
              <a:rPr dirty="0"/>
              <a:t>it</a:t>
            </a:r>
            <a:r>
              <a:rPr spc="-20" dirty="0"/>
              <a:t> </a:t>
            </a:r>
            <a:r>
              <a:rPr dirty="0"/>
              <a:t>also</a:t>
            </a:r>
            <a:r>
              <a:rPr spc="-30" dirty="0"/>
              <a:t> </a:t>
            </a:r>
            <a:r>
              <a:rPr dirty="0"/>
              <a:t>experienced</a:t>
            </a:r>
            <a:r>
              <a:rPr spc="-35" dirty="0"/>
              <a:t> </a:t>
            </a:r>
            <a:r>
              <a:rPr dirty="0"/>
              <a:t>the</a:t>
            </a:r>
            <a:r>
              <a:rPr spc="-30" dirty="0"/>
              <a:t> </a:t>
            </a:r>
            <a:r>
              <a:rPr dirty="0"/>
              <a:t>largest</a:t>
            </a:r>
            <a:r>
              <a:rPr spc="-20" dirty="0"/>
              <a:t> </a:t>
            </a:r>
            <a:r>
              <a:rPr dirty="0"/>
              <a:t>share</a:t>
            </a:r>
            <a:r>
              <a:rPr spc="-30" dirty="0"/>
              <a:t> </a:t>
            </a:r>
            <a:r>
              <a:rPr dirty="0"/>
              <a:t>of</a:t>
            </a:r>
            <a:r>
              <a:rPr spc="-20" dirty="0"/>
              <a:t> </a:t>
            </a:r>
            <a:r>
              <a:rPr dirty="0"/>
              <a:t>delivery</a:t>
            </a:r>
            <a:r>
              <a:rPr spc="-30" dirty="0"/>
              <a:t> </a:t>
            </a:r>
            <a:r>
              <a:rPr spc="-10" dirty="0"/>
              <a:t>delays.</a:t>
            </a:r>
          </a:p>
          <a:p>
            <a:pPr marL="184785" indent="-172085">
              <a:lnSpc>
                <a:spcPts val="1430"/>
              </a:lnSpc>
              <a:buFont typeface="Arial MT"/>
              <a:buChar char="•"/>
              <a:tabLst>
                <a:tab pos="184785" algn="l"/>
              </a:tabLst>
            </a:pPr>
            <a:r>
              <a:rPr b="1" spc="-10" dirty="0">
                <a:latin typeface="Arial"/>
                <a:cs typeface="Arial"/>
              </a:rPr>
              <a:t>Medium-</a:t>
            </a:r>
            <a:r>
              <a:rPr b="1" dirty="0">
                <a:latin typeface="Arial"/>
                <a:cs typeface="Arial"/>
              </a:rPr>
              <a:t>risk</a:t>
            </a:r>
            <a:r>
              <a:rPr b="1" spc="-35" dirty="0">
                <a:latin typeface="Arial"/>
                <a:cs typeface="Arial"/>
              </a:rPr>
              <a:t> </a:t>
            </a:r>
            <a:r>
              <a:rPr b="1" dirty="0">
                <a:latin typeface="Arial"/>
                <a:cs typeface="Arial"/>
              </a:rPr>
              <a:t>shipments</a:t>
            </a:r>
            <a:r>
              <a:rPr b="1" spc="-30" dirty="0">
                <a:latin typeface="Arial"/>
                <a:cs typeface="Arial"/>
              </a:rPr>
              <a:t> </a:t>
            </a:r>
            <a:r>
              <a:rPr b="1" dirty="0">
                <a:latin typeface="Arial"/>
                <a:cs typeface="Arial"/>
              </a:rPr>
              <a:t>formed</a:t>
            </a:r>
            <a:r>
              <a:rPr b="1" spc="-20" dirty="0">
                <a:latin typeface="Arial"/>
                <a:cs typeface="Arial"/>
              </a:rPr>
              <a:t> </a:t>
            </a:r>
            <a:r>
              <a:rPr b="1" dirty="0">
                <a:latin typeface="Arial"/>
                <a:cs typeface="Arial"/>
              </a:rPr>
              <a:t>the</a:t>
            </a:r>
            <a:r>
              <a:rPr b="1" spc="-30" dirty="0">
                <a:latin typeface="Arial"/>
                <a:cs typeface="Arial"/>
              </a:rPr>
              <a:t> </a:t>
            </a:r>
            <a:r>
              <a:rPr b="1" dirty="0">
                <a:latin typeface="Arial"/>
                <a:cs typeface="Arial"/>
              </a:rPr>
              <a:t>largest</a:t>
            </a:r>
            <a:r>
              <a:rPr b="1" spc="-20" dirty="0">
                <a:latin typeface="Arial"/>
                <a:cs typeface="Arial"/>
              </a:rPr>
              <a:t> </a:t>
            </a:r>
            <a:r>
              <a:rPr b="1" dirty="0">
                <a:latin typeface="Arial"/>
                <a:cs typeface="Arial"/>
              </a:rPr>
              <a:t>risk</a:t>
            </a:r>
            <a:r>
              <a:rPr b="1" spc="-30" dirty="0">
                <a:latin typeface="Arial"/>
                <a:cs typeface="Arial"/>
              </a:rPr>
              <a:t> </a:t>
            </a:r>
            <a:r>
              <a:rPr b="1" dirty="0">
                <a:latin typeface="Arial"/>
                <a:cs typeface="Arial"/>
              </a:rPr>
              <a:t>category</a:t>
            </a:r>
            <a:r>
              <a:rPr dirty="0"/>
              <a:t>,</a:t>
            </a:r>
            <a:r>
              <a:rPr spc="-20" dirty="0"/>
              <a:t> </a:t>
            </a:r>
            <a:r>
              <a:rPr dirty="0"/>
              <a:t>suggesting</a:t>
            </a:r>
            <a:r>
              <a:rPr spc="-30" dirty="0"/>
              <a:t> </a:t>
            </a:r>
            <a:r>
              <a:rPr dirty="0"/>
              <a:t>that</a:t>
            </a:r>
            <a:r>
              <a:rPr spc="-20" dirty="0"/>
              <a:t> </a:t>
            </a:r>
            <a:r>
              <a:rPr dirty="0"/>
              <a:t>improving</a:t>
            </a:r>
            <a:r>
              <a:rPr spc="-35" dirty="0"/>
              <a:t> </a:t>
            </a:r>
            <a:r>
              <a:rPr dirty="0"/>
              <a:t>operational</a:t>
            </a:r>
            <a:r>
              <a:rPr spc="-30" dirty="0"/>
              <a:t> </a:t>
            </a:r>
            <a:r>
              <a:rPr dirty="0"/>
              <a:t>efficiency</a:t>
            </a:r>
            <a:r>
              <a:rPr spc="-25" dirty="0"/>
              <a:t> </a:t>
            </a:r>
            <a:r>
              <a:rPr dirty="0"/>
              <a:t>could</a:t>
            </a:r>
            <a:r>
              <a:rPr spc="-30" dirty="0"/>
              <a:t> </a:t>
            </a:r>
            <a:r>
              <a:rPr dirty="0"/>
              <a:t>significantly</a:t>
            </a:r>
            <a:r>
              <a:rPr spc="-25" dirty="0"/>
              <a:t> </a:t>
            </a:r>
            <a:r>
              <a:rPr dirty="0"/>
              <a:t>reduce</a:t>
            </a:r>
            <a:r>
              <a:rPr spc="-30" dirty="0"/>
              <a:t> </a:t>
            </a:r>
            <a:r>
              <a:rPr spc="-10" dirty="0"/>
              <a:t>delays.</a:t>
            </a:r>
          </a:p>
          <a:p>
            <a:pPr marL="184785" indent="-172085">
              <a:lnSpc>
                <a:spcPts val="1430"/>
              </a:lnSpc>
              <a:spcBef>
                <a:spcPts val="45"/>
              </a:spcBef>
              <a:buFont typeface="Arial MT"/>
              <a:buChar char="•"/>
              <a:tabLst>
                <a:tab pos="184785" algn="l"/>
              </a:tabLst>
            </a:pPr>
            <a:r>
              <a:rPr b="1" dirty="0">
                <a:latin typeface="Arial"/>
                <a:cs typeface="Arial"/>
              </a:rPr>
              <a:t>Sales</a:t>
            </a:r>
            <a:r>
              <a:rPr b="1" spc="-30" dirty="0">
                <a:latin typeface="Arial"/>
                <a:cs typeface="Arial"/>
              </a:rPr>
              <a:t> </a:t>
            </a:r>
            <a:r>
              <a:rPr b="1" dirty="0">
                <a:latin typeface="Arial"/>
                <a:cs typeface="Arial"/>
              </a:rPr>
              <a:t>were</a:t>
            </a:r>
            <a:r>
              <a:rPr b="1" spc="-25" dirty="0">
                <a:latin typeface="Arial"/>
                <a:cs typeface="Arial"/>
              </a:rPr>
              <a:t> </a:t>
            </a:r>
            <a:r>
              <a:rPr b="1" dirty="0">
                <a:latin typeface="Arial"/>
                <a:cs typeface="Arial"/>
              </a:rPr>
              <a:t>concentrated</a:t>
            </a:r>
            <a:r>
              <a:rPr b="1" spc="-20" dirty="0">
                <a:latin typeface="Arial"/>
                <a:cs typeface="Arial"/>
              </a:rPr>
              <a:t> </a:t>
            </a:r>
            <a:r>
              <a:rPr b="1" dirty="0">
                <a:latin typeface="Arial"/>
                <a:cs typeface="Arial"/>
              </a:rPr>
              <a:t>in</a:t>
            </a:r>
            <a:r>
              <a:rPr b="1" spc="-15" dirty="0">
                <a:latin typeface="Arial"/>
                <a:cs typeface="Arial"/>
              </a:rPr>
              <a:t> </a:t>
            </a:r>
            <a:r>
              <a:rPr b="1" dirty="0">
                <a:latin typeface="Arial"/>
                <a:cs typeface="Arial"/>
              </a:rPr>
              <a:t>a</a:t>
            </a:r>
            <a:r>
              <a:rPr b="1" spc="-25" dirty="0">
                <a:latin typeface="Arial"/>
                <a:cs typeface="Arial"/>
              </a:rPr>
              <a:t> </a:t>
            </a:r>
            <a:r>
              <a:rPr b="1" dirty="0">
                <a:latin typeface="Arial"/>
                <a:cs typeface="Arial"/>
              </a:rPr>
              <a:t>few</a:t>
            </a:r>
            <a:r>
              <a:rPr b="1" spc="-20" dirty="0">
                <a:latin typeface="Arial"/>
                <a:cs typeface="Arial"/>
              </a:rPr>
              <a:t> </a:t>
            </a:r>
            <a:r>
              <a:rPr b="1" dirty="0">
                <a:latin typeface="Arial"/>
                <a:cs typeface="Arial"/>
              </a:rPr>
              <a:t>product</a:t>
            </a:r>
            <a:r>
              <a:rPr b="1" spc="-15" dirty="0">
                <a:latin typeface="Arial"/>
                <a:cs typeface="Arial"/>
              </a:rPr>
              <a:t> </a:t>
            </a:r>
            <a:r>
              <a:rPr b="1" dirty="0">
                <a:latin typeface="Arial"/>
                <a:cs typeface="Arial"/>
              </a:rPr>
              <a:t>categories</a:t>
            </a:r>
            <a:r>
              <a:rPr dirty="0"/>
              <a:t>,</a:t>
            </a:r>
            <a:r>
              <a:rPr spc="-20" dirty="0"/>
              <a:t> </a:t>
            </a:r>
            <a:r>
              <a:rPr dirty="0"/>
              <a:t>while</a:t>
            </a:r>
            <a:r>
              <a:rPr spc="-25" dirty="0"/>
              <a:t> </a:t>
            </a:r>
            <a:r>
              <a:rPr dirty="0"/>
              <a:t>some</a:t>
            </a:r>
            <a:r>
              <a:rPr spc="-30" dirty="0"/>
              <a:t> </a:t>
            </a:r>
            <a:r>
              <a:rPr dirty="0"/>
              <a:t>categories</a:t>
            </a:r>
            <a:r>
              <a:rPr spc="-20" dirty="0"/>
              <a:t> </a:t>
            </a:r>
            <a:r>
              <a:rPr dirty="0"/>
              <a:t>generated</a:t>
            </a:r>
            <a:r>
              <a:rPr spc="-25" dirty="0"/>
              <a:t> </a:t>
            </a:r>
            <a:r>
              <a:rPr dirty="0"/>
              <a:t>low</a:t>
            </a:r>
            <a:r>
              <a:rPr spc="-25" dirty="0"/>
              <a:t> </a:t>
            </a:r>
            <a:r>
              <a:rPr dirty="0"/>
              <a:t>revenue</a:t>
            </a:r>
            <a:r>
              <a:rPr spc="-25" dirty="0"/>
              <a:t> </a:t>
            </a:r>
            <a:r>
              <a:rPr dirty="0"/>
              <a:t>and</a:t>
            </a:r>
            <a:r>
              <a:rPr spc="-25" dirty="0"/>
              <a:t> </a:t>
            </a:r>
            <a:r>
              <a:rPr dirty="0"/>
              <a:t>may</a:t>
            </a:r>
            <a:r>
              <a:rPr spc="-25" dirty="0"/>
              <a:t> </a:t>
            </a:r>
            <a:r>
              <a:rPr dirty="0"/>
              <a:t>require</a:t>
            </a:r>
            <a:r>
              <a:rPr spc="-25" dirty="0"/>
              <a:t> </a:t>
            </a:r>
            <a:r>
              <a:rPr dirty="0"/>
              <a:t>promotional</a:t>
            </a:r>
            <a:r>
              <a:rPr spc="-30" dirty="0"/>
              <a:t> </a:t>
            </a:r>
            <a:r>
              <a:rPr spc="-10" dirty="0"/>
              <a:t>strategies</a:t>
            </a:r>
          </a:p>
          <a:p>
            <a:pPr marL="226695" indent="-213995">
              <a:lnSpc>
                <a:spcPts val="1430"/>
              </a:lnSpc>
              <a:buChar char="•"/>
              <a:tabLst>
                <a:tab pos="226695" algn="l"/>
              </a:tabLst>
            </a:pPr>
            <a:r>
              <a:rPr dirty="0"/>
              <a:t>or</a:t>
            </a:r>
            <a:r>
              <a:rPr spc="-25" dirty="0"/>
              <a:t> </a:t>
            </a:r>
            <a:r>
              <a:rPr dirty="0"/>
              <a:t>inventory</a:t>
            </a:r>
            <a:r>
              <a:rPr spc="-20" dirty="0"/>
              <a:t> </a:t>
            </a:r>
            <a:r>
              <a:rPr spc="-10" dirty="0"/>
              <a:t>review.</a:t>
            </a:r>
          </a:p>
          <a:p>
            <a:pPr marL="184785" indent="-172085">
              <a:lnSpc>
                <a:spcPts val="1415"/>
              </a:lnSpc>
              <a:spcBef>
                <a:spcPts val="50"/>
              </a:spcBef>
              <a:buFont typeface="Arial MT"/>
              <a:buChar char="•"/>
              <a:tabLst>
                <a:tab pos="184785" algn="l"/>
              </a:tabLst>
            </a:pPr>
            <a:r>
              <a:rPr b="1" dirty="0">
                <a:latin typeface="Arial"/>
                <a:cs typeface="Arial"/>
              </a:rPr>
              <a:t>Monthly</a:t>
            </a:r>
            <a:r>
              <a:rPr b="1" spc="-40" dirty="0">
                <a:latin typeface="Arial"/>
                <a:cs typeface="Arial"/>
              </a:rPr>
              <a:t> </a:t>
            </a:r>
            <a:r>
              <a:rPr b="1" dirty="0">
                <a:latin typeface="Arial"/>
                <a:cs typeface="Arial"/>
              </a:rPr>
              <a:t>sales</a:t>
            </a:r>
            <a:r>
              <a:rPr b="1" spc="-35" dirty="0">
                <a:latin typeface="Arial"/>
                <a:cs typeface="Arial"/>
              </a:rPr>
              <a:t> </a:t>
            </a:r>
            <a:r>
              <a:rPr b="1" dirty="0">
                <a:latin typeface="Arial"/>
                <a:cs typeface="Arial"/>
              </a:rPr>
              <a:t>showed</a:t>
            </a:r>
            <a:r>
              <a:rPr b="1" spc="-25" dirty="0">
                <a:latin typeface="Arial"/>
                <a:cs typeface="Arial"/>
              </a:rPr>
              <a:t> </a:t>
            </a:r>
            <a:r>
              <a:rPr b="1" dirty="0">
                <a:latin typeface="Arial"/>
                <a:cs typeface="Arial"/>
              </a:rPr>
              <a:t>noticeable</a:t>
            </a:r>
            <a:r>
              <a:rPr b="1" spc="-30" dirty="0">
                <a:latin typeface="Arial"/>
                <a:cs typeface="Arial"/>
              </a:rPr>
              <a:t> </a:t>
            </a:r>
            <a:r>
              <a:rPr b="1" dirty="0">
                <a:latin typeface="Arial"/>
                <a:cs typeface="Arial"/>
              </a:rPr>
              <a:t>fluctuations</a:t>
            </a:r>
            <a:r>
              <a:rPr dirty="0"/>
              <a:t>,</a:t>
            </a:r>
            <a:r>
              <a:rPr spc="-25" dirty="0"/>
              <a:t> </a:t>
            </a:r>
            <a:r>
              <a:rPr dirty="0"/>
              <a:t>indicating</a:t>
            </a:r>
            <a:r>
              <a:rPr spc="-35" dirty="0"/>
              <a:t> </a:t>
            </a:r>
            <a:r>
              <a:rPr dirty="0"/>
              <a:t>seasonal</a:t>
            </a:r>
            <a:r>
              <a:rPr spc="-30" dirty="0"/>
              <a:t> </a:t>
            </a:r>
            <a:r>
              <a:rPr dirty="0"/>
              <a:t>demand</a:t>
            </a:r>
            <a:r>
              <a:rPr spc="-35" dirty="0"/>
              <a:t> </a:t>
            </a:r>
            <a:r>
              <a:rPr dirty="0"/>
              <a:t>patterns</a:t>
            </a:r>
            <a:r>
              <a:rPr spc="-30" dirty="0"/>
              <a:t> </a:t>
            </a:r>
            <a:r>
              <a:rPr dirty="0"/>
              <a:t>that</a:t>
            </a:r>
            <a:r>
              <a:rPr spc="-25" dirty="0"/>
              <a:t> </a:t>
            </a:r>
            <a:r>
              <a:rPr dirty="0"/>
              <a:t>should</a:t>
            </a:r>
            <a:r>
              <a:rPr spc="-40" dirty="0"/>
              <a:t> </a:t>
            </a:r>
            <a:r>
              <a:rPr dirty="0"/>
              <a:t>be</a:t>
            </a:r>
            <a:r>
              <a:rPr spc="-35" dirty="0"/>
              <a:t> </a:t>
            </a:r>
            <a:r>
              <a:rPr dirty="0"/>
              <a:t>considered</a:t>
            </a:r>
            <a:r>
              <a:rPr spc="-35" dirty="0"/>
              <a:t> </a:t>
            </a:r>
            <a:r>
              <a:rPr dirty="0"/>
              <a:t>for</a:t>
            </a:r>
            <a:r>
              <a:rPr spc="-30" dirty="0"/>
              <a:t> </a:t>
            </a:r>
            <a:r>
              <a:rPr spc="-10" dirty="0"/>
              <a:t>inventory</a:t>
            </a:r>
          </a:p>
          <a:p>
            <a:pPr marL="226695" indent="-213995">
              <a:lnSpc>
                <a:spcPts val="1405"/>
              </a:lnSpc>
              <a:buChar char="•"/>
              <a:tabLst>
                <a:tab pos="226695" algn="l"/>
              </a:tabLst>
            </a:pPr>
            <a:r>
              <a:rPr dirty="0"/>
              <a:t>and</a:t>
            </a:r>
            <a:r>
              <a:rPr spc="-30" dirty="0"/>
              <a:t> </a:t>
            </a:r>
            <a:r>
              <a:rPr dirty="0"/>
              <a:t>workforce</a:t>
            </a:r>
            <a:r>
              <a:rPr spc="-30" dirty="0"/>
              <a:t> </a:t>
            </a:r>
            <a:r>
              <a:rPr spc="-10" dirty="0"/>
              <a:t>planning.</a:t>
            </a:r>
          </a:p>
          <a:p>
            <a:pPr marL="184785" indent="-172085">
              <a:lnSpc>
                <a:spcPts val="1430"/>
              </a:lnSpc>
              <a:buFont typeface="Arial MT"/>
              <a:buChar char="•"/>
              <a:tabLst>
                <a:tab pos="184785" algn="l"/>
              </a:tabLst>
            </a:pPr>
            <a:r>
              <a:rPr b="1" dirty="0">
                <a:latin typeface="Arial"/>
                <a:cs typeface="Arial"/>
              </a:rPr>
              <a:t>Certain</a:t>
            </a:r>
            <a:r>
              <a:rPr b="1" spc="-30" dirty="0">
                <a:latin typeface="Arial"/>
                <a:cs typeface="Arial"/>
              </a:rPr>
              <a:t> </a:t>
            </a:r>
            <a:r>
              <a:rPr b="1" dirty="0">
                <a:latin typeface="Arial"/>
                <a:cs typeface="Arial"/>
              </a:rPr>
              <a:t>regions</a:t>
            </a:r>
            <a:r>
              <a:rPr b="1" spc="-35" dirty="0">
                <a:latin typeface="Arial"/>
                <a:cs typeface="Arial"/>
              </a:rPr>
              <a:t> </a:t>
            </a:r>
            <a:r>
              <a:rPr b="1" dirty="0">
                <a:latin typeface="Arial"/>
                <a:cs typeface="Arial"/>
              </a:rPr>
              <a:t>experienced</a:t>
            </a:r>
            <a:r>
              <a:rPr b="1" spc="-30" dirty="0">
                <a:latin typeface="Arial"/>
                <a:cs typeface="Arial"/>
              </a:rPr>
              <a:t> </a:t>
            </a:r>
            <a:r>
              <a:rPr b="1" dirty="0">
                <a:latin typeface="Arial"/>
                <a:cs typeface="Arial"/>
              </a:rPr>
              <a:t>higher</a:t>
            </a:r>
            <a:r>
              <a:rPr b="1" spc="-35" dirty="0">
                <a:latin typeface="Arial"/>
                <a:cs typeface="Arial"/>
              </a:rPr>
              <a:t> </a:t>
            </a:r>
            <a:r>
              <a:rPr b="1" dirty="0">
                <a:latin typeface="Arial"/>
                <a:cs typeface="Arial"/>
              </a:rPr>
              <a:t>average</a:t>
            </a:r>
            <a:r>
              <a:rPr b="1" spc="-35" dirty="0">
                <a:latin typeface="Arial"/>
                <a:cs typeface="Arial"/>
              </a:rPr>
              <a:t> </a:t>
            </a:r>
            <a:r>
              <a:rPr b="1" dirty="0">
                <a:latin typeface="Arial"/>
                <a:cs typeface="Arial"/>
              </a:rPr>
              <a:t>delivery</a:t>
            </a:r>
            <a:r>
              <a:rPr b="1" spc="-30" dirty="0">
                <a:latin typeface="Arial"/>
                <a:cs typeface="Arial"/>
              </a:rPr>
              <a:t> </a:t>
            </a:r>
            <a:r>
              <a:rPr b="1" dirty="0">
                <a:latin typeface="Arial"/>
                <a:cs typeface="Arial"/>
              </a:rPr>
              <a:t>delays</a:t>
            </a:r>
            <a:r>
              <a:rPr dirty="0"/>
              <a:t>,</a:t>
            </a:r>
            <a:r>
              <a:rPr spc="-30" dirty="0"/>
              <a:t> </a:t>
            </a:r>
            <a:r>
              <a:rPr dirty="0"/>
              <a:t>highlighting</a:t>
            </a:r>
            <a:r>
              <a:rPr spc="-35" dirty="0"/>
              <a:t> </a:t>
            </a:r>
            <a:r>
              <a:rPr dirty="0"/>
              <a:t>the</a:t>
            </a:r>
            <a:r>
              <a:rPr spc="-40" dirty="0"/>
              <a:t> </a:t>
            </a:r>
            <a:r>
              <a:rPr dirty="0"/>
              <a:t>need</a:t>
            </a:r>
            <a:r>
              <a:rPr spc="-35" dirty="0"/>
              <a:t> </a:t>
            </a:r>
            <a:r>
              <a:rPr dirty="0"/>
              <a:t>to</a:t>
            </a:r>
            <a:r>
              <a:rPr spc="-40" dirty="0"/>
              <a:t> </a:t>
            </a:r>
            <a:r>
              <a:rPr dirty="0"/>
              <a:t>optimize</a:t>
            </a:r>
            <a:r>
              <a:rPr spc="-35" dirty="0"/>
              <a:t> </a:t>
            </a:r>
            <a:r>
              <a:rPr dirty="0"/>
              <a:t>transportation</a:t>
            </a:r>
            <a:r>
              <a:rPr spc="-35" dirty="0"/>
              <a:t> </a:t>
            </a:r>
            <a:r>
              <a:rPr spc="-10" dirty="0"/>
              <a:t>routes</a:t>
            </a:r>
          </a:p>
          <a:p>
            <a:pPr marL="184785" indent="-172085">
              <a:lnSpc>
                <a:spcPts val="1430"/>
              </a:lnSpc>
              <a:spcBef>
                <a:spcPts val="50"/>
              </a:spcBef>
              <a:buChar char="•"/>
              <a:tabLst>
                <a:tab pos="184785" algn="l"/>
              </a:tabLst>
            </a:pPr>
            <a:r>
              <a:rPr dirty="0"/>
              <a:t>and</a:t>
            </a:r>
            <a:r>
              <a:rPr spc="-35" dirty="0"/>
              <a:t> </a:t>
            </a:r>
            <a:r>
              <a:rPr dirty="0"/>
              <a:t>regional</a:t>
            </a:r>
            <a:r>
              <a:rPr spc="-30" dirty="0"/>
              <a:t> </a:t>
            </a:r>
            <a:r>
              <a:rPr dirty="0"/>
              <a:t>distribution</a:t>
            </a:r>
            <a:r>
              <a:rPr spc="-35" dirty="0"/>
              <a:t> </a:t>
            </a:r>
            <a:r>
              <a:rPr spc="-10" dirty="0"/>
              <a:t>centers.</a:t>
            </a:r>
          </a:p>
          <a:p>
            <a:pPr marL="184785" indent="-172085">
              <a:lnSpc>
                <a:spcPts val="1430"/>
              </a:lnSpc>
              <a:buFont typeface="Arial MT"/>
              <a:buChar char="•"/>
              <a:tabLst>
                <a:tab pos="184785" algn="l"/>
              </a:tabLst>
            </a:pPr>
            <a:r>
              <a:rPr b="1" dirty="0">
                <a:latin typeface="Arial"/>
                <a:cs typeface="Arial"/>
              </a:rPr>
              <a:t>Order</a:t>
            </a:r>
            <a:r>
              <a:rPr b="1" spc="-30" dirty="0">
                <a:latin typeface="Arial"/>
                <a:cs typeface="Arial"/>
              </a:rPr>
              <a:t> </a:t>
            </a:r>
            <a:r>
              <a:rPr b="1" dirty="0">
                <a:latin typeface="Arial"/>
                <a:cs typeface="Arial"/>
              </a:rPr>
              <a:t>discounts</a:t>
            </a:r>
            <a:r>
              <a:rPr b="1" spc="-30" dirty="0">
                <a:latin typeface="Arial"/>
                <a:cs typeface="Arial"/>
              </a:rPr>
              <a:t> </a:t>
            </a:r>
            <a:r>
              <a:rPr b="1" dirty="0">
                <a:latin typeface="Arial"/>
                <a:cs typeface="Arial"/>
              </a:rPr>
              <a:t>helped</a:t>
            </a:r>
            <a:r>
              <a:rPr b="1" spc="-20" dirty="0">
                <a:latin typeface="Arial"/>
                <a:cs typeface="Arial"/>
              </a:rPr>
              <a:t> </a:t>
            </a:r>
            <a:r>
              <a:rPr b="1" dirty="0">
                <a:latin typeface="Arial"/>
                <a:cs typeface="Arial"/>
              </a:rPr>
              <a:t>increase</a:t>
            </a:r>
            <a:r>
              <a:rPr b="1" spc="-25" dirty="0">
                <a:latin typeface="Arial"/>
                <a:cs typeface="Arial"/>
              </a:rPr>
              <a:t> </a:t>
            </a:r>
            <a:r>
              <a:rPr b="1" dirty="0">
                <a:latin typeface="Arial"/>
                <a:cs typeface="Arial"/>
              </a:rPr>
              <a:t>sales</a:t>
            </a:r>
            <a:r>
              <a:rPr b="1" spc="-35" dirty="0">
                <a:latin typeface="Arial"/>
                <a:cs typeface="Arial"/>
              </a:rPr>
              <a:t> </a:t>
            </a:r>
            <a:r>
              <a:rPr b="1" dirty="0">
                <a:latin typeface="Arial"/>
                <a:cs typeface="Arial"/>
              </a:rPr>
              <a:t>volume</a:t>
            </a:r>
            <a:r>
              <a:rPr dirty="0"/>
              <a:t>,</a:t>
            </a:r>
            <a:r>
              <a:rPr spc="-20" dirty="0"/>
              <a:t> </a:t>
            </a:r>
            <a:r>
              <a:rPr dirty="0"/>
              <a:t>but</a:t>
            </a:r>
            <a:r>
              <a:rPr spc="-25" dirty="0"/>
              <a:t> </a:t>
            </a:r>
            <a:r>
              <a:rPr dirty="0"/>
              <a:t>excessive</a:t>
            </a:r>
            <a:r>
              <a:rPr spc="-30" dirty="0"/>
              <a:t> </a:t>
            </a:r>
            <a:r>
              <a:rPr dirty="0"/>
              <a:t>discounts</a:t>
            </a:r>
            <a:r>
              <a:rPr spc="-25" dirty="0"/>
              <a:t> </a:t>
            </a:r>
            <a:r>
              <a:rPr dirty="0"/>
              <a:t>may</a:t>
            </a:r>
            <a:r>
              <a:rPr spc="-30" dirty="0"/>
              <a:t> </a:t>
            </a:r>
            <a:r>
              <a:rPr dirty="0"/>
              <a:t>reduce</a:t>
            </a:r>
            <a:r>
              <a:rPr spc="-35" dirty="0"/>
              <a:t> </a:t>
            </a:r>
            <a:r>
              <a:rPr dirty="0"/>
              <a:t>overall</a:t>
            </a:r>
            <a:r>
              <a:rPr spc="-25" dirty="0"/>
              <a:t> </a:t>
            </a:r>
            <a:r>
              <a:rPr dirty="0"/>
              <a:t>profit</a:t>
            </a:r>
            <a:r>
              <a:rPr spc="-25" dirty="0"/>
              <a:t> </a:t>
            </a:r>
            <a:r>
              <a:rPr spc="-10" dirty="0"/>
              <a:t>margins.</a:t>
            </a:r>
          </a:p>
          <a:p>
            <a:pPr marL="184785" indent="-172085">
              <a:lnSpc>
                <a:spcPct val="100000"/>
              </a:lnSpc>
              <a:spcBef>
                <a:spcPts val="45"/>
              </a:spcBef>
              <a:buFont typeface="Arial MT"/>
              <a:buChar char="•"/>
              <a:tabLst>
                <a:tab pos="184785" algn="l"/>
              </a:tabLst>
            </a:pPr>
            <a:r>
              <a:rPr b="1" dirty="0">
                <a:latin typeface="Arial"/>
                <a:cs typeface="Arial"/>
              </a:rPr>
              <a:t>Most</a:t>
            </a:r>
            <a:r>
              <a:rPr b="1" spc="-30" dirty="0">
                <a:latin typeface="Arial"/>
                <a:cs typeface="Arial"/>
              </a:rPr>
              <a:t> </a:t>
            </a:r>
            <a:r>
              <a:rPr b="1" dirty="0">
                <a:latin typeface="Arial"/>
                <a:cs typeface="Arial"/>
              </a:rPr>
              <a:t>outliers</a:t>
            </a:r>
            <a:r>
              <a:rPr b="1" spc="-30" dirty="0">
                <a:latin typeface="Arial"/>
                <a:cs typeface="Arial"/>
              </a:rPr>
              <a:t> </a:t>
            </a:r>
            <a:r>
              <a:rPr b="1" dirty="0">
                <a:latin typeface="Arial"/>
                <a:cs typeface="Arial"/>
              </a:rPr>
              <a:t>were</a:t>
            </a:r>
            <a:r>
              <a:rPr b="1" spc="-30" dirty="0">
                <a:latin typeface="Arial"/>
                <a:cs typeface="Arial"/>
              </a:rPr>
              <a:t> </a:t>
            </a:r>
            <a:r>
              <a:rPr b="1" dirty="0">
                <a:latin typeface="Arial"/>
                <a:cs typeface="Arial"/>
              </a:rPr>
              <a:t>associated</a:t>
            </a:r>
            <a:r>
              <a:rPr b="1" spc="-20" dirty="0">
                <a:latin typeface="Arial"/>
                <a:cs typeface="Arial"/>
              </a:rPr>
              <a:t> </a:t>
            </a:r>
            <a:r>
              <a:rPr b="1" dirty="0">
                <a:latin typeface="Arial"/>
                <a:cs typeface="Arial"/>
              </a:rPr>
              <a:t>with</a:t>
            </a:r>
            <a:r>
              <a:rPr b="1" spc="-20" dirty="0">
                <a:latin typeface="Arial"/>
                <a:cs typeface="Arial"/>
              </a:rPr>
              <a:t> </a:t>
            </a:r>
            <a:r>
              <a:rPr b="1" spc="-10" dirty="0">
                <a:latin typeface="Arial"/>
                <a:cs typeface="Arial"/>
              </a:rPr>
              <a:t>high-</a:t>
            </a:r>
            <a:r>
              <a:rPr b="1" dirty="0">
                <a:latin typeface="Arial"/>
                <a:cs typeface="Arial"/>
              </a:rPr>
              <a:t>value</a:t>
            </a:r>
            <a:r>
              <a:rPr b="1" spc="-30" dirty="0">
                <a:latin typeface="Arial"/>
                <a:cs typeface="Arial"/>
              </a:rPr>
              <a:t> </a:t>
            </a:r>
            <a:r>
              <a:rPr b="1" dirty="0">
                <a:latin typeface="Arial"/>
                <a:cs typeface="Arial"/>
              </a:rPr>
              <a:t>orders</a:t>
            </a:r>
            <a:r>
              <a:rPr dirty="0"/>
              <a:t>,</a:t>
            </a:r>
            <a:r>
              <a:rPr spc="-20" dirty="0"/>
              <a:t> </a:t>
            </a:r>
            <a:r>
              <a:rPr dirty="0"/>
              <a:t>requiring</a:t>
            </a:r>
            <a:r>
              <a:rPr spc="-35" dirty="0"/>
              <a:t> </a:t>
            </a:r>
            <a:r>
              <a:rPr dirty="0"/>
              <a:t>additional</a:t>
            </a:r>
            <a:r>
              <a:rPr spc="-30" dirty="0"/>
              <a:t> </a:t>
            </a:r>
            <a:r>
              <a:rPr dirty="0"/>
              <a:t>monitoring</a:t>
            </a:r>
            <a:r>
              <a:rPr spc="-30" dirty="0"/>
              <a:t> </a:t>
            </a:r>
            <a:r>
              <a:rPr dirty="0"/>
              <a:t>to</a:t>
            </a:r>
            <a:r>
              <a:rPr spc="-30" dirty="0"/>
              <a:t> </a:t>
            </a:r>
            <a:r>
              <a:rPr dirty="0"/>
              <a:t>minimize</a:t>
            </a:r>
            <a:r>
              <a:rPr spc="-30" dirty="0"/>
              <a:t> </a:t>
            </a:r>
            <a:r>
              <a:rPr dirty="0"/>
              <a:t>financial</a:t>
            </a:r>
            <a:r>
              <a:rPr spc="-25" dirty="0"/>
              <a:t> </a:t>
            </a:r>
            <a:r>
              <a:rPr dirty="0"/>
              <a:t>and</a:t>
            </a:r>
            <a:r>
              <a:rPr spc="-30" dirty="0"/>
              <a:t> </a:t>
            </a:r>
            <a:r>
              <a:rPr dirty="0"/>
              <a:t>operational</a:t>
            </a:r>
            <a:r>
              <a:rPr spc="-30" dirty="0"/>
              <a:t> </a:t>
            </a:r>
            <a:r>
              <a:rPr spc="-10" dirty="0"/>
              <a:t>risks.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D91E-639C-75C4-7CA5-ED01E12ED176}"/>
              </a:ext>
            </a:extLst>
          </p:cNvPr>
          <p:cNvSpPr>
            <a:spLocks noGrp="1"/>
          </p:cNvSpPr>
          <p:nvPr>
            <p:ph type="title"/>
          </p:nvPr>
        </p:nvSpPr>
        <p:spPr>
          <a:xfrm>
            <a:off x="1839847" y="152400"/>
            <a:ext cx="8512304" cy="553998"/>
          </a:xfrm>
        </p:spPr>
        <p:txBody>
          <a:bodyPr/>
          <a:lstStyle/>
          <a:p>
            <a:pPr algn="ctr"/>
            <a:endParaRPr lang="en-IN" sz="3600" dirty="0">
              <a:latin typeface="+mn-lt"/>
            </a:endParaRPr>
          </a:p>
        </p:txBody>
      </p:sp>
      <p:pic>
        <p:nvPicPr>
          <p:cNvPr id="4" name="Picture 3">
            <a:extLst>
              <a:ext uri="{FF2B5EF4-FFF2-40B4-BE49-F238E27FC236}">
                <a16:creationId xmlns:a16="http://schemas.microsoft.com/office/drawing/2014/main" id="{BC8A9953-899C-1B2E-FBAC-B732F30BB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12060502" cy="6248400"/>
          </a:xfrm>
          <a:prstGeom prst="rect">
            <a:avLst/>
          </a:prstGeom>
        </p:spPr>
      </p:pic>
    </p:spTree>
    <p:extLst>
      <p:ext uri="{BB962C8B-B14F-4D97-AF65-F5344CB8AC3E}">
        <p14:creationId xmlns:p14="http://schemas.microsoft.com/office/powerpoint/2010/main" val="856165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3FB32-471F-9E69-8E9E-C9EDCB643604}"/>
              </a:ext>
            </a:extLst>
          </p:cNvPr>
          <p:cNvSpPr>
            <a:spLocks noGrp="1"/>
          </p:cNvSpPr>
          <p:nvPr>
            <p:ph type="title"/>
          </p:nvPr>
        </p:nvSpPr>
        <p:spPr>
          <a:xfrm>
            <a:off x="1752600" y="533400"/>
            <a:ext cx="8512304" cy="677108"/>
          </a:xfrm>
        </p:spPr>
        <p:txBody>
          <a:bodyPr/>
          <a:lstStyle/>
          <a:p>
            <a:pPr algn="ctr"/>
            <a:r>
              <a:rPr lang="en-IN" sz="4400" b="1" dirty="0"/>
              <a:t>Conclusion</a:t>
            </a:r>
          </a:p>
        </p:txBody>
      </p:sp>
      <p:sp>
        <p:nvSpPr>
          <p:cNvPr id="3" name="Text Placeholder 2">
            <a:extLst>
              <a:ext uri="{FF2B5EF4-FFF2-40B4-BE49-F238E27FC236}">
                <a16:creationId xmlns:a16="http://schemas.microsoft.com/office/drawing/2014/main" id="{44E5AE3D-7E16-F7AA-6C11-760227C0C779}"/>
              </a:ext>
            </a:extLst>
          </p:cNvPr>
          <p:cNvSpPr>
            <a:spLocks noGrp="1"/>
          </p:cNvSpPr>
          <p:nvPr>
            <p:ph type="body" idx="1"/>
          </p:nvPr>
        </p:nvSpPr>
        <p:spPr>
          <a:xfrm>
            <a:off x="1297939" y="1752600"/>
            <a:ext cx="9849485" cy="4223685"/>
          </a:xfrm>
        </p:spPr>
        <p:txBody>
          <a:bodyPr/>
          <a:lstStyle/>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This project successfully analyzed supply chain shipment data to identify delivery delays, classify shipment risks, and evaluate sales performance. Through data preprocessing, feature engineering, and exploratory data analysis, meaningful business insights were generated.</a:t>
            </a:r>
          </a:p>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The analysis highlighted shipment delay patterns, regional delivery performance, sales trends, and outlier transactions. These insights can help businesses improve logistics, optimize delivery operations, and support better decision-making.</a:t>
            </a:r>
          </a:p>
          <a:p>
            <a:pPr marL="342900" indent="-342900">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Overall, this project demonstrates how Data Analytics can transform raw supply chain data into valuable business insights that improve operational efficiency and customer satisfaction</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2196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TotalTime>
  <Words>692</Words>
  <Application>Microsoft Office PowerPoint</Application>
  <PresentationFormat>Widescreen</PresentationFormat>
  <Paragraphs>65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Arial MT</vt:lpstr>
      <vt:lpstr>Calibri</vt:lpstr>
      <vt:lpstr>Calibri Light</vt:lpstr>
      <vt:lpstr>Wingdings</vt:lpstr>
      <vt:lpstr>Office Theme</vt:lpstr>
      <vt:lpstr>SUPPLY CHAIN RISK AND CUSTOMER RETENTION ANALYSIS</vt:lpstr>
      <vt:lpstr>INTRODUCTION</vt:lpstr>
      <vt:lpstr>Problem Statement &amp; Objectives</vt:lpstr>
      <vt:lpstr>PROJECT OBJECTIVES</vt:lpstr>
      <vt:lpstr>Dataset Overview</vt:lpstr>
      <vt:lpstr>Data collection</vt:lpstr>
      <vt:lpstr>Data Reduction</vt:lpstr>
      <vt:lpstr>DATA PREPROCESSING AND DATA CLEANING</vt:lpstr>
      <vt:lpstr>Feature Engineering</vt:lpstr>
      <vt:lpstr>PowerPoint Presentation</vt:lpstr>
      <vt:lpstr>Exploratory Data Analysis (EDA)</vt:lpstr>
      <vt:lpstr>Exploratory Data Analysis (EDA)</vt:lpstr>
      <vt:lpstr>Exploratory Data Analysis (EDA)</vt:lpstr>
      <vt:lpstr>Outliers</vt:lpstr>
      <vt:lpstr>Business Insights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Home Student</cp:lastModifiedBy>
  <cp:revision>2</cp:revision>
  <dcterms:created xsi:type="dcterms:W3CDTF">2026-07-17T03:28:48Z</dcterms:created>
  <dcterms:modified xsi:type="dcterms:W3CDTF">2026-07-18T09:38:29Z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2026-07-16T00:00:00Z</vt:filetime>
  </property>
  <property fmtid="{D5CDD505-2E9C-101B-9397-08002B2CF9AE}" pid="4" name="LastSaved">
    <vt:filetime>2026-07-17T00:00:00Z</vt:filetime>
  </property>
  <property fmtid="{D5CDD505-2E9C-101B-9397-08002B2CF9AE}" pid="5" name="Producer">
    <vt:lpwstr>macOS Version 26.5.1 (Build 25F80) Quartz PDFContext</vt:lpwstr>
  </property>
</Properties>
</file>